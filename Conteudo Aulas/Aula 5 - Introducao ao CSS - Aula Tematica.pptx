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</p:sldIdLst>
  <p:notesMasterIdLst>
    <p:notesMasterId r:id="rId2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notesMaster" Target="notesMasters/notesMaster1.xml"/><Relationship Id="rId26" Type="http://schemas.openxmlformats.org/officeDocument/2006/relationships/presProps" Target="presProps.xml"/><Relationship Id="rId27" Type="http://schemas.openxmlformats.org/officeDocument/2006/relationships/viewProps" Target="viewProps.xml"/><Relationship Id="rId28" Type="http://schemas.openxmlformats.org/officeDocument/2006/relationships/theme" Target="theme/theme1.xml"/><Relationship Id="rId2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188720"/>
            <a:ext cx="3840480" cy="3840480"/>
          </a:xfrm>
          <a:prstGeom prst="ellipse">
            <a:avLst/>
          </a:prstGeom>
          <a:solidFill>
            <a:srgbClr val="264DE4">
              <a:alpha val="3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607040" y="4389120"/>
            <a:ext cx="2743200" cy="2743200"/>
          </a:xfrm>
          <a:prstGeom prst="ellipse">
            <a:avLst/>
          </a:prstGeom>
          <a:solidFill>
            <a:srgbClr val="1C7293">
              <a:alpha val="4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13716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TEMÁTICA · CSS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822960" y="1828800"/>
            <a:ext cx="98755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Introdução ao CSS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822960" y="288036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Dando estilo e vida à estrutura HTML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822960" y="3657600"/>
            <a:ext cx="1508760" cy="1508760"/>
          </a:xfrm>
          <a:prstGeom prst="roundRect">
            <a:avLst>
              <a:gd name="adj" fmla="val 7273"/>
            </a:avLst>
          </a:prstGeom>
          <a:solidFill>
            <a:srgbClr val="264DE4"/>
          </a:solidFill>
          <a:ln/>
        </p:spPr>
      </p:sp>
      <p:sp>
        <p:nvSpPr>
          <p:cNvPr id="8" name="Text 6"/>
          <p:cNvSpPr/>
          <p:nvPr/>
        </p:nvSpPr>
        <p:spPr>
          <a:xfrm>
            <a:off x="822960" y="3657600"/>
            <a:ext cx="1508760" cy="1508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{ }</a:t>
            </a:r>
            <a:endParaRPr lang="en-US" sz="3400" dirty="0"/>
          </a:p>
        </p:txBody>
      </p:sp>
      <p:sp>
        <p:nvSpPr>
          <p:cNvPr id="9" name="Text 7"/>
          <p:cNvSpPr/>
          <p:nvPr/>
        </p:nvSpPr>
        <p:spPr>
          <a:xfrm>
            <a:off x="11551615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é CSS?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640080" y="1280160"/>
            <a:ext cx="10881360" cy="1234440"/>
          </a:xfrm>
          <a:prstGeom prst="roundRect">
            <a:avLst>
              <a:gd name="adj" fmla="val 7407"/>
            </a:avLst>
          </a:prstGeom>
          <a:solidFill>
            <a:srgbClr val="F7F9FB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60120" y="1280160"/>
            <a:ext cx="1024128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64D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CSS </a:t>
            </a:r>
            <a:pPr indent="0" marL="0">
              <a:buNone/>
            </a:pPr>
            <a:r>
              <a:rPr lang="en-US" sz="1600" dirty="0">
                <a:solidFill>
                  <a:srgbClr val="1B2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(Cascading Style Sheets) é a linguagem utilizada para definir a aparência e a apresentação visual dos elementos HTML — cores, fontes, espaçamentos, layout e muito mais.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2743200"/>
            <a:ext cx="3520440" cy="1920240"/>
          </a:xfrm>
          <a:prstGeom prst="roundRect">
            <a:avLst>
              <a:gd name="adj" fmla="val 4762"/>
            </a:avLst>
          </a:prstGeom>
          <a:solidFill>
            <a:srgbClr val="1E2761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2926080"/>
            <a:ext cx="3063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Cascading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868680" y="3383280"/>
            <a:ext cx="306324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Regras em cascata: a última ou mais específica prevalece.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4343400" y="2743200"/>
            <a:ext cx="3520440" cy="1920240"/>
          </a:xfrm>
          <a:prstGeom prst="roundRect">
            <a:avLst>
              <a:gd name="adj" fmla="val 4762"/>
            </a:avLst>
          </a:prstGeom>
          <a:solidFill>
            <a:srgbClr val="1E2761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0" y="2926080"/>
            <a:ext cx="3063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Style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4572000" y="3383280"/>
            <a:ext cx="306324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Estilo: cores, fontes, tamanhos, espaçamentos.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8046720" y="2743200"/>
            <a:ext cx="3520440" cy="1920240"/>
          </a:xfrm>
          <a:prstGeom prst="roundRect">
            <a:avLst>
              <a:gd name="adj" fmla="val 4762"/>
            </a:avLst>
          </a:prstGeom>
          <a:solidFill>
            <a:srgbClr val="1E2761"/>
          </a:solidFill>
          <a:ln/>
        </p:spPr>
      </p:sp>
      <p:sp>
        <p:nvSpPr>
          <p:cNvPr id="12" name="Text 10"/>
          <p:cNvSpPr/>
          <p:nvPr/>
        </p:nvSpPr>
        <p:spPr>
          <a:xfrm>
            <a:off x="8275320" y="2926080"/>
            <a:ext cx="3063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Sheets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8275320" y="3383280"/>
            <a:ext cx="306324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Folhas de estilo aplicadas ao documento HTML.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640080" y="4937760"/>
            <a:ext cx="10881360" cy="1234440"/>
          </a:xfrm>
          <a:prstGeom prst="roundRect">
            <a:avLst>
              <a:gd name="adj" fmla="val 7407"/>
            </a:avLst>
          </a:prstGeom>
          <a:solidFill>
            <a:srgbClr val="264DE4"/>
          </a:solidFill>
          <a:ln/>
        </p:spPr>
      </p:sp>
      <p:sp>
        <p:nvSpPr>
          <p:cNvPr id="15" name="Text 13"/>
          <p:cNvSpPr/>
          <p:nvPr/>
        </p:nvSpPr>
        <p:spPr>
          <a:xfrm>
            <a:off x="960120" y="4937760"/>
            <a:ext cx="1024128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CSS responde à pergunta: "Como a página é apresentada?"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11551615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Por que separar HTML e CSS?</a:t>
            </a:r>
            <a:endParaRPr lang="en-US" sz="2900" dirty="0"/>
          </a:p>
        </p:txBody>
      </p:sp>
      <p:sp>
        <p:nvSpPr>
          <p:cNvPr id="3" name="Text 1"/>
          <p:cNvSpPr/>
          <p:nvPr/>
        </p:nvSpPr>
        <p:spPr>
          <a:xfrm>
            <a:off x="640080" y="114300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 cuida da estrutura. CSS cuida da aparência. Cada um com sua responsabilidade.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737360"/>
            <a:ext cx="352044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" y="1737360"/>
            <a:ext cx="91440" cy="1554480"/>
          </a:xfrm>
          <a:prstGeom prst="rect">
            <a:avLst/>
          </a:prstGeom>
          <a:solidFill>
            <a:srgbClr val="264DE4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1901952"/>
            <a:ext cx="3063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Organização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914400" y="2331720"/>
            <a:ext cx="3063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Código mais limpo e fácil de entender.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297680" y="1737360"/>
            <a:ext cx="352044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297680" y="1737360"/>
            <a:ext cx="91440" cy="1554480"/>
          </a:xfrm>
          <a:prstGeom prst="rect">
            <a:avLst/>
          </a:prstGeom>
          <a:solidFill>
            <a:srgbClr val="264DE4"/>
          </a:solidFill>
          <a:ln/>
        </p:spPr>
      </p:sp>
      <p:sp>
        <p:nvSpPr>
          <p:cNvPr id="10" name="Text 8"/>
          <p:cNvSpPr/>
          <p:nvPr/>
        </p:nvSpPr>
        <p:spPr>
          <a:xfrm>
            <a:off x="4572000" y="1901952"/>
            <a:ext cx="3063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Reutilização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572000" y="2331720"/>
            <a:ext cx="3063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 único CSS pode estilizar várias páginas.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7955280" y="1737360"/>
            <a:ext cx="352044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955280" y="1737360"/>
            <a:ext cx="91440" cy="1554480"/>
          </a:xfrm>
          <a:prstGeom prst="rect">
            <a:avLst/>
          </a:prstGeom>
          <a:solidFill>
            <a:srgbClr val="264DE4"/>
          </a:solidFill>
          <a:ln/>
        </p:spPr>
      </p:sp>
      <p:sp>
        <p:nvSpPr>
          <p:cNvPr id="14" name="Text 12"/>
          <p:cNvSpPr/>
          <p:nvPr/>
        </p:nvSpPr>
        <p:spPr>
          <a:xfrm>
            <a:off x="8229600" y="1901952"/>
            <a:ext cx="3063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Manutenção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8229600" y="2331720"/>
            <a:ext cx="3063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Alterar o visual sem tocar na estrutura.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40080" y="3474720"/>
            <a:ext cx="352044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40080" y="3474720"/>
            <a:ext cx="91440" cy="1554480"/>
          </a:xfrm>
          <a:prstGeom prst="rect">
            <a:avLst/>
          </a:prstGeom>
          <a:solidFill>
            <a:srgbClr val="264DE4"/>
          </a:solidFill>
          <a:ln/>
        </p:spPr>
      </p:sp>
      <p:sp>
        <p:nvSpPr>
          <p:cNvPr id="18" name="Text 16"/>
          <p:cNvSpPr/>
          <p:nvPr/>
        </p:nvSpPr>
        <p:spPr>
          <a:xfrm>
            <a:off x="914400" y="3639312"/>
            <a:ext cx="3063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Trabalho em equipe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914400" y="4069080"/>
            <a:ext cx="3063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Diferentes pessoas podem cuidar de cada parte.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297680" y="3474720"/>
            <a:ext cx="352044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297680" y="3474720"/>
            <a:ext cx="91440" cy="1554480"/>
          </a:xfrm>
          <a:prstGeom prst="rect">
            <a:avLst/>
          </a:prstGeom>
          <a:solidFill>
            <a:srgbClr val="264DE4"/>
          </a:solidFill>
          <a:ln/>
        </p:spPr>
      </p:sp>
      <p:sp>
        <p:nvSpPr>
          <p:cNvPr id="22" name="Text 20"/>
          <p:cNvSpPr/>
          <p:nvPr/>
        </p:nvSpPr>
        <p:spPr>
          <a:xfrm>
            <a:off x="4572000" y="3639312"/>
            <a:ext cx="3063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4572000" y="4069080"/>
            <a:ext cx="3063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Arquivos CSS podem ser cacheados pelo navegador.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7955280" y="3474720"/>
            <a:ext cx="352044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955280" y="3474720"/>
            <a:ext cx="91440" cy="1554480"/>
          </a:xfrm>
          <a:prstGeom prst="rect">
            <a:avLst/>
          </a:prstGeom>
          <a:solidFill>
            <a:srgbClr val="264DE4"/>
          </a:solidFill>
          <a:ln/>
        </p:spPr>
      </p:sp>
      <p:sp>
        <p:nvSpPr>
          <p:cNvPr id="26" name="Text 24"/>
          <p:cNvSpPr/>
          <p:nvPr/>
        </p:nvSpPr>
        <p:spPr>
          <a:xfrm>
            <a:off x="8229600" y="3639312"/>
            <a:ext cx="3063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Consistência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8229600" y="4069080"/>
            <a:ext cx="3063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Mesmo estilo aplicado em todo o site.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11551615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aplicar CSS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114300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Existem 3 formas de conectar CSS ao HTML.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3520440" cy="3383280"/>
          </a:xfrm>
          <a:prstGeom prst="roundRect">
            <a:avLst>
              <a:gd name="adj" fmla="val 2703"/>
            </a:avLst>
          </a:prstGeom>
          <a:solidFill>
            <a:srgbClr val="2E3A6E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874520"/>
            <a:ext cx="3154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Inline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822960" y="2286000"/>
            <a:ext cx="3154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Direto no atributo style do elemento.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777240" y="3063240"/>
            <a:ext cx="3246120" cy="1828800"/>
          </a:xfrm>
          <a:prstGeom prst="roundRect">
            <a:avLst>
              <a:gd name="adj" fmla="val 4000"/>
            </a:avLst>
          </a:prstGeom>
          <a:solidFill>
            <a:srgbClr val="12172E"/>
          </a:solidFill>
          <a:ln/>
        </p:spPr>
      </p:sp>
      <p:sp>
        <p:nvSpPr>
          <p:cNvPr id="8" name="Shape 6"/>
          <p:cNvSpPr/>
          <p:nvPr/>
        </p:nvSpPr>
        <p:spPr>
          <a:xfrm>
            <a:off x="960120" y="3227832"/>
            <a:ext cx="128016" cy="128016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9" name="Shape 7"/>
          <p:cNvSpPr/>
          <p:nvPr/>
        </p:nvSpPr>
        <p:spPr>
          <a:xfrm>
            <a:off x="1161288" y="3227832"/>
            <a:ext cx="128016" cy="128016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10" name="Shape 8"/>
          <p:cNvSpPr/>
          <p:nvPr/>
        </p:nvSpPr>
        <p:spPr>
          <a:xfrm>
            <a:off x="1362456" y="3227832"/>
            <a:ext cx="128016" cy="128016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11" name="Text 9"/>
          <p:cNvSpPr/>
          <p:nvPr/>
        </p:nvSpPr>
        <p:spPr>
          <a:xfrm>
            <a:off x="1051560" y="3520440"/>
            <a:ext cx="2697480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FFA6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&lt;p </a:t>
            </a:r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7EE7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style="color:blue;"&gt;</a:t>
            </a:r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Texto</a:t>
            </a:r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FFA6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&lt;/p&gt;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297680" y="1691640"/>
            <a:ext cx="3520440" cy="3383280"/>
          </a:xfrm>
          <a:prstGeom prst="roundRect">
            <a:avLst>
              <a:gd name="adj" fmla="val 2703"/>
            </a:avLst>
          </a:prstGeom>
          <a:solidFill>
            <a:srgbClr val="2E3A6E"/>
          </a:solidFill>
          <a:ln/>
        </p:spPr>
      </p:sp>
      <p:sp>
        <p:nvSpPr>
          <p:cNvPr id="13" name="Text 11"/>
          <p:cNvSpPr/>
          <p:nvPr/>
        </p:nvSpPr>
        <p:spPr>
          <a:xfrm>
            <a:off x="4480560" y="1874520"/>
            <a:ext cx="3154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Interna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4480560" y="2286000"/>
            <a:ext cx="3154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Dentro de &lt;style&gt; no &lt;head&gt;.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4434840" y="3063240"/>
            <a:ext cx="3246120" cy="1828800"/>
          </a:xfrm>
          <a:prstGeom prst="roundRect">
            <a:avLst>
              <a:gd name="adj" fmla="val 4000"/>
            </a:avLst>
          </a:prstGeom>
          <a:solidFill>
            <a:srgbClr val="12172E"/>
          </a:solidFill>
          <a:ln/>
        </p:spPr>
      </p:sp>
      <p:sp>
        <p:nvSpPr>
          <p:cNvPr id="16" name="Shape 14"/>
          <p:cNvSpPr/>
          <p:nvPr/>
        </p:nvSpPr>
        <p:spPr>
          <a:xfrm>
            <a:off x="4617720" y="3227832"/>
            <a:ext cx="128016" cy="128016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17" name="Shape 15"/>
          <p:cNvSpPr/>
          <p:nvPr/>
        </p:nvSpPr>
        <p:spPr>
          <a:xfrm>
            <a:off x="4818888" y="3227832"/>
            <a:ext cx="128016" cy="128016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18" name="Shape 16"/>
          <p:cNvSpPr/>
          <p:nvPr/>
        </p:nvSpPr>
        <p:spPr>
          <a:xfrm>
            <a:off x="5020056" y="3227832"/>
            <a:ext cx="128016" cy="128016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19" name="Text 17"/>
          <p:cNvSpPr/>
          <p:nvPr/>
        </p:nvSpPr>
        <p:spPr>
          <a:xfrm>
            <a:off x="4709160" y="3520440"/>
            <a:ext cx="2697480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FFA6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&lt;style&gt;</a:t>
            </a:r>
            <a:endParaRPr lang="en-US" sz="10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 { color: </a:t>
            </a:r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7EE7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blue</a:t>
            </a:r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 }</a:t>
            </a:r>
            <a:endParaRPr lang="en-US" sz="10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FFA6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&lt;/style&gt;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7955280" y="1691640"/>
            <a:ext cx="3520440" cy="3383280"/>
          </a:xfrm>
          <a:prstGeom prst="roundRect">
            <a:avLst>
              <a:gd name="adj" fmla="val 2703"/>
            </a:avLst>
          </a:prstGeom>
          <a:solidFill>
            <a:srgbClr val="2E3A6E"/>
          </a:solidFill>
          <a:ln/>
        </p:spPr>
      </p:sp>
      <p:sp>
        <p:nvSpPr>
          <p:cNvPr id="21" name="Text 19"/>
          <p:cNvSpPr/>
          <p:nvPr/>
        </p:nvSpPr>
        <p:spPr>
          <a:xfrm>
            <a:off x="8138160" y="1874520"/>
            <a:ext cx="3154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Externa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8138160" y="2286000"/>
            <a:ext cx="3154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Arquivo .css separado, ligado por &lt;link&gt;.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8092440" y="3063240"/>
            <a:ext cx="3246120" cy="1828800"/>
          </a:xfrm>
          <a:prstGeom prst="roundRect">
            <a:avLst>
              <a:gd name="adj" fmla="val 4000"/>
            </a:avLst>
          </a:prstGeom>
          <a:solidFill>
            <a:srgbClr val="12172E"/>
          </a:solidFill>
          <a:ln/>
        </p:spPr>
      </p:sp>
      <p:sp>
        <p:nvSpPr>
          <p:cNvPr id="24" name="Shape 22"/>
          <p:cNvSpPr/>
          <p:nvPr/>
        </p:nvSpPr>
        <p:spPr>
          <a:xfrm>
            <a:off x="8275320" y="3227832"/>
            <a:ext cx="128016" cy="128016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25" name="Shape 23"/>
          <p:cNvSpPr/>
          <p:nvPr/>
        </p:nvSpPr>
        <p:spPr>
          <a:xfrm>
            <a:off x="8476488" y="3227832"/>
            <a:ext cx="128016" cy="128016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26" name="Shape 24"/>
          <p:cNvSpPr/>
          <p:nvPr/>
        </p:nvSpPr>
        <p:spPr>
          <a:xfrm>
            <a:off x="8677656" y="3227832"/>
            <a:ext cx="128016" cy="128016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27" name="Text 25"/>
          <p:cNvSpPr/>
          <p:nvPr/>
        </p:nvSpPr>
        <p:spPr>
          <a:xfrm>
            <a:off x="8366760" y="3520440"/>
            <a:ext cx="2697480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FFA6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&lt;link</a:t>
            </a:r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7EE7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rel="stylesheet"</a:t>
            </a:r>
            <a:endParaRPr lang="en-US" sz="10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7EE7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href="style.css"&gt;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640080" y="5349240"/>
            <a:ext cx="10881360" cy="914400"/>
          </a:xfrm>
          <a:prstGeom prst="roundRect">
            <a:avLst>
              <a:gd name="adj" fmla="val 8000"/>
            </a:avLst>
          </a:prstGeom>
          <a:solidFill>
            <a:srgbClr val="1C7293"/>
          </a:solidFill>
          <a:ln/>
        </p:spPr>
      </p:sp>
      <p:sp>
        <p:nvSpPr>
          <p:cNvPr id="29" name="Text 27"/>
          <p:cNvSpPr/>
          <p:nvPr/>
        </p:nvSpPr>
        <p:spPr>
          <a:xfrm>
            <a:off x="960120" y="5349240"/>
            <a:ext cx="102412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Recomendado: use CSS externo — mantém o HTML limpo e o estilo reutilizável.</a:t>
            </a:r>
            <a:endParaRPr lang="en-US" sz="1350" dirty="0"/>
          </a:p>
        </p:txBody>
      </p:sp>
      <p:sp>
        <p:nvSpPr>
          <p:cNvPr id="30" name="Text 28"/>
          <p:cNvSpPr/>
          <p:nvPr/>
        </p:nvSpPr>
        <p:spPr>
          <a:xfrm>
            <a:off x="11551615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Sintaxe do CSS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1463040" y="1463040"/>
            <a:ext cx="9235440" cy="1280160"/>
          </a:xfrm>
          <a:prstGeom prst="roundRect">
            <a:avLst>
              <a:gd name="adj" fmla="val 5714"/>
            </a:avLst>
          </a:prstGeom>
          <a:solidFill>
            <a:srgbClr val="12172E"/>
          </a:solidFill>
          <a:ln/>
        </p:spPr>
      </p:sp>
      <p:sp>
        <p:nvSpPr>
          <p:cNvPr id="4" name="Shape 2"/>
          <p:cNvSpPr/>
          <p:nvPr/>
        </p:nvSpPr>
        <p:spPr>
          <a:xfrm>
            <a:off x="1645920" y="1627632"/>
            <a:ext cx="128016" cy="128016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5" name="Shape 3"/>
          <p:cNvSpPr/>
          <p:nvPr/>
        </p:nvSpPr>
        <p:spPr>
          <a:xfrm>
            <a:off x="1847088" y="1627632"/>
            <a:ext cx="128016" cy="128016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6" name="Shape 4"/>
          <p:cNvSpPr/>
          <p:nvPr/>
        </p:nvSpPr>
        <p:spPr>
          <a:xfrm>
            <a:off x="2048256" y="1627632"/>
            <a:ext cx="128016" cy="128016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7" name="Text 5"/>
          <p:cNvSpPr/>
          <p:nvPr/>
        </p:nvSpPr>
        <p:spPr>
          <a:xfrm>
            <a:off x="1737360" y="1920240"/>
            <a:ext cx="868680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2200" dirty="0">
                <a:solidFill>
                  <a:srgbClr val="79C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h1 </a:t>
            </a:r>
            <a:pPr indent="0" marL="0">
              <a:lnSpc>
                <a:spcPct val="125000"/>
              </a:lnSpc>
              <a:buNone/>
            </a:pPr>
            <a:r>
              <a:rPr lang="en-US" sz="22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pPr indent="0" marL="0">
              <a:lnSpc>
                <a:spcPct val="125000"/>
              </a:lnSpc>
              <a:buNone/>
            </a:pPr>
            <a:r>
              <a:rPr lang="en-US" sz="2200" dirty="0">
                <a:solidFill>
                  <a:srgbClr val="7EE7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color</a:t>
            </a:r>
            <a:pPr indent="0" marL="0">
              <a:lnSpc>
                <a:spcPct val="125000"/>
              </a:lnSpc>
              <a:buNone/>
            </a:pPr>
            <a:r>
              <a:rPr lang="en-US" sz="22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</a:t>
            </a:r>
            <a:pPr indent="0" marL="0">
              <a:lnSpc>
                <a:spcPct val="125000"/>
              </a:lnSpc>
              <a:buNone/>
            </a:pPr>
            <a:r>
              <a:rPr lang="en-US" sz="2200" dirty="0">
                <a:solidFill>
                  <a:srgbClr val="FFA6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blue</a:t>
            </a:r>
            <a:pPr indent="0" marL="0">
              <a:lnSpc>
                <a:spcPct val="125000"/>
              </a:lnSpc>
              <a:buNone/>
            </a:pPr>
            <a:r>
              <a:rPr lang="en-US" sz="22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 </a:t>
            </a:r>
            <a:pPr indent="0" marL="0">
              <a:lnSpc>
                <a:spcPct val="125000"/>
              </a:lnSpc>
              <a:buNone/>
            </a:pPr>
            <a:r>
              <a:rPr lang="en-US" sz="22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1920240" y="3291840"/>
            <a:ext cx="2560320" cy="1737360"/>
          </a:xfrm>
          <a:prstGeom prst="roundRect">
            <a:avLst>
              <a:gd name="adj" fmla="val 4211"/>
            </a:avLst>
          </a:prstGeom>
          <a:solidFill>
            <a:srgbClr val="F7F9FB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103120" y="3474720"/>
            <a:ext cx="2194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79C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h1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2103120" y="393192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Seletor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2103120" y="4297680"/>
            <a:ext cx="2194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 elemento será estilizado.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937760" y="3291840"/>
            <a:ext cx="2560320" cy="1737360"/>
          </a:xfrm>
          <a:prstGeom prst="roundRect">
            <a:avLst>
              <a:gd name="adj" fmla="val 4211"/>
            </a:avLst>
          </a:prstGeom>
          <a:solidFill>
            <a:srgbClr val="F7F9FB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120640" y="3474720"/>
            <a:ext cx="2194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7EE7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color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5120640" y="393192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Propriedade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5120640" y="4297680"/>
            <a:ext cx="2194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será alterado.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7955280" y="3291840"/>
            <a:ext cx="2560320" cy="1737360"/>
          </a:xfrm>
          <a:prstGeom prst="roundRect">
            <a:avLst>
              <a:gd name="adj" fmla="val 4211"/>
            </a:avLst>
          </a:prstGeom>
          <a:solidFill>
            <a:srgbClr val="F7F9FB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138160" y="3474720"/>
            <a:ext cx="2194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A6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blue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8138160" y="393192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Valor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8138160" y="4297680"/>
            <a:ext cx="2194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o efeito será aplicado.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40080" y="5349240"/>
            <a:ext cx="10881360" cy="914400"/>
          </a:xfrm>
          <a:prstGeom prst="roundRect">
            <a:avLst>
              <a:gd name="adj" fmla="val 8000"/>
            </a:avLst>
          </a:prstGeom>
          <a:solidFill>
            <a:srgbClr val="1E2761"/>
          </a:solidFill>
          <a:ln/>
        </p:spPr>
      </p:sp>
      <p:sp>
        <p:nvSpPr>
          <p:cNvPr id="21" name="Text 19"/>
          <p:cNvSpPr/>
          <p:nvPr/>
        </p:nvSpPr>
        <p:spPr>
          <a:xfrm>
            <a:off x="960120" y="5349240"/>
            <a:ext cx="102412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Declaração = propriedade + valor. Regra = seletor + bloco de declarações entre chaves.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1551615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Seletores básicos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114300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Definem quais elementos do HTML receberão o estilo.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5303520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1856232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64D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Elemento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914400" y="2286000"/>
            <a:ext cx="4754880" cy="548640"/>
          </a:xfrm>
          <a:prstGeom prst="roundRect">
            <a:avLst>
              <a:gd name="adj" fmla="val 10000"/>
            </a:avLst>
          </a:prstGeom>
          <a:solidFill>
            <a:srgbClr val="12172E"/>
          </a:solidFill>
          <a:ln/>
        </p:spPr>
      </p:sp>
      <p:sp>
        <p:nvSpPr>
          <p:cNvPr id="7" name="Text 5"/>
          <p:cNvSpPr/>
          <p:nvPr/>
        </p:nvSpPr>
        <p:spPr>
          <a:xfrm>
            <a:off x="1097280" y="2286000"/>
            <a:ext cx="4389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A6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 { }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914400" y="2971800"/>
            <a:ext cx="4754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2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Seleciona todos os &lt;p&gt;.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217920" y="1691640"/>
            <a:ext cx="5303520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92240" y="1856232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64D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Classe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6492240" y="2286000"/>
            <a:ext cx="4754880" cy="548640"/>
          </a:xfrm>
          <a:prstGeom prst="roundRect">
            <a:avLst>
              <a:gd name="adj" fmla="val 10000"/>
            </a:avLst>
          </a:prstGeom>
          <a:solidFill>
            <a:srgbClr val="12172E"/>
          </a:solidFill>
          <a:ln/>
        </p:spPr>
      </p:sp>
      <p:sp>
        <p:nvSpPr>
          <p:cNvPr id="12" name="Text 10"/>
          <p:cNvSpPr/>
          <p:nvPr/>
        </p:nvSpPr>
        <p:spPr>
          <a:xfrm>
            <a:off x="6675120" y="2286000"/>
            <a:ext cx="4389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A6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.destaque { }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492240" y="2971800"/>
            <a:ext cx="4754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2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Seleciona elementos com class="destaque".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640080" y="3749040"/>
            <a:ext cx="5303520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14400" y="3913632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64D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914400" y="4343400"/>
            <a:ext cx="4754880" cy="548640"/>
          </a:xfrm>
          <a:prstGeom prst="roundRect">
            <a:avLst>
              <a:gd name="adj" fmla="val 10000"/>
            </a:avLst>
          </a:prstGeom>
          <a:solidFill>
            <a:srgbClr val="12172E"/>
          </a:solidFill>
          <a:ln/>
        </p:spPr>
      </p:sp>
      <p:sp>
        <p:nvSpPr>
          <p:cNvPr id="17" name="Text 15"/>
          <p:cNvSpPr/>
          <p:nvPr/>
        </p:nvSpPr>
        <p:spPr>
          <a:xfrm>
            <a:off x="1097280" y="4343400"/>
            <a:ext cx="4389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A6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#topo { }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914400" y="5029200"/>
            <a:ext cx="4754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2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Seleciona o elemento com id="topo".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217920" y="3749040"/>
            <a:ext cx="5303520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492240" y="3913632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64D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Universal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6492240" y="4343400"/>
            <a:ext cx="4754880" cy="548640"/>
          </a:xfrm>
          <a:prstGeom prst="roundRect">
            <a:avLst>
              <a:gd name="adj" fmla="val 10000"/>
            </a:avLst>
          </a:prstGeom>
          <a:solidFill>
            <a:srgbClr val="12172E"/>
          </a:solidFill>
          <a:ln/>
        </p:spPr>
      </p:sp>
      <p:sp>
        <p:nvSpPr>
          <p:cNvPr id="22" name="Text 20"/>
          <p:cNvSpPr/>
          <p:nvPr/>
        </p:nvSpPr>
        <p:spPr>
          <a:xfrm>
            <a:off x="6675120" y="4343400"/>
            <a:ext cx="4389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A6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* { }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6492240" y="5029200"/>
            <a:ext cx="4754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2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Seleciona todos os elementos.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11551615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Seletores combinados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40080" y="1371600"/>
            <a:ext cx="5669280" cy="4114800"/>
          </a:xfrm>
          <a:prstGeom prst="roundRect">
            <a:avLst>
              <a:gd name="adj" fmla="val 1778"/>
            </a:avLst>
          </a:prstGeom>
          <a:solidFill>
            <a:srgbClr val="12172E"/>
          </a:solidFill>
          <a:ln/>
        </p:spPr>
      </p:sp>
      <p:sp>
        <p:nvSpPr>
          <p:cNvPr id="4" name="Shape 2"/>
          <p:cNvSpPr/>
          <p:nvPr/>
        </p:nvSpPr>
        <p:spPr>
          <a:xfrm>
            <a:off x="822960" y="1536192"/>
            <a:ext cx="128016" cy="128016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5" name="Shape 3"/>
          <p:cNvSpPr/>
          <p:nvPr/>
        </p:nvSpPr>
        <p:spPr>
          <a:xfrm>
            <a:off x="1024128" y="1536192"/>
            <a:ext cx="128016" cy="128016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6" name="Shape 4"/>
          <p:cNvSpPr/>
          <p:nvPr/>
        </p:nvSpPr>
        <p:spPr>
          <a:xfrm>
            <a:off x="1225296" y="1536192"/>
            <a:ext cx="128016" cy="128016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1828800"/>
            <a:ext cx="5120640" cy="3520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/* Descendente: qualquer &lt;a&gt; dentro de nav */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nav a { }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/* Filho direto: só &lt;li&gt; filhos de ul */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ul &gt; li { }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/* Agrupamento: aplica a ambos */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h1, h2 { }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/* Múltiplas classes no mesmo elemento */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.card.destaque { }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537960" y="1371600"/>
            <a:ext cx="5029200" cy="896112"/>
          </a:xfrm>
          <a:prstGeom prst="roundRect">
            <a:avLst>
              <a:gd name="adj" fmla="val 8163"/>
            </a:avLst>
          </a:prstGeom>
          <a:solidFill>
            <a:srgbClr val="2E3A6E"/>
          </a:solidFill>
          <a:ln/>
        </p:spPr>
      </p:sp>
      <p:sp>
        <p:nvSpPr>
          <p:cNvPr id="9" name="Text 7"/>
          <p:cNvSpPr/>
          <p:nvPr/>
        </p:nvSpPr>
        <p:spPr>
          <a:xfrm>
            <a:off x="6766560" y="1481328"/>
            <a:ext cx="4480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A6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 B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766560" y="1828800"/>
            <a:ext cx="44805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Descendente — B dentro de A, em qualquer nível.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6537960" y="2404872"/>
            <a:ext cx="5029200" cy="896112"/>
          </a:xfrm>
          <a:prstGeom prst="roundRect">
            <a:avLst>
              <a:gd name="adj" fmla="val 8163"/>
            </a:avLst>
          </a:prstGeom>
          <a:solidFill>
            <a:srgbClr val="2E3A6E"/>
          </a:solidFill>
          <a:ln/>
        </p:spPr>
      </p:sp>
      <p:sp>
        <p:nvSpPr>
          <p:cNvPr id="12" name="Text 10"/>
          <p:cNvSpPr/>
          <p:nvPr/>
        </p:nvSpPr>
        <p:spPr>
          <a:xfrm>
            <a:off x="6766560" y="2514600"/>
            <a:ext cx="4480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A6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 &gt; B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766560" y="2862072"/>
            <a:ext cx="44805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Filho direto — B filho imediato de A.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6537960" y="3438144"/>
            <a:ext cx="5029200" cy="896112"/>
          </a:xfrm>
          <a:prstGeom prst="roundRect">
            <a:avLst>
              <a:gd name="adj" fmla="val 8163"/>
            </a:avLst>
          </a:prstGeom>
          <a:solidFill>
            <a:srgbClr val="2E3A6E"/>
          </a:solidFill>
          <a:ln/>
        </p:spPr>
      </p:sp>
      <p:sp>
        <p:nvSpPr>
          <p:cNvPr id="15" name="Text 13"/>
          <p:cNvSpPr/>
          <p:nvPr/>
        </p:nvSpPr>
        <p:spPr>
          <a:xfrm>
            <a:off x="6766560" y="3547872"/>
            <a:ext cx="4480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A6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A, B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766560" y="3895344"/>
            <a:ext cx="44805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Agrupamento — aplica o estilo a A e a B.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6537960" y="4471416"/>
            <a:ext cx="5029200" cy="896112"/>
          </a:xfrm>
          <a:prstGeom prst="roundRect">
            <a:avLst>
              <a:gd name="adj" fmla="val 8163"/>
            </a:avLst>
          </a:prstGeom>
          <a:solidFill>
            <a:srgbClr val="2E3A6E"/>
          </a:solidFill>
          <a:ln/>
        </p:spPr>
      </p:sp>
      <p:sp>
        <p:nvSpPr>
          <p:cNvPr id="18" name="Text 16"/>
          <p:cNvSpPr/>
          <p:nvPr/>
        </p:nvSpPr>
        <p:spPr>
          <a:xfrm>
            <a:off x="6766560" y="4581144"/>
            <a:ext cx="4480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A6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A.classe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766560" y="4928616"/>
            <a:ext cx="44805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Combina elemento e classe no mesmo seletor.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11551615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Cores no CSS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114300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Existem várias formas de representar uma cor.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737360"/>
            <a:ext cx="3520440" cy="1417320"/>
          </a:xfrm>
          <a:prstGeom prst="roundRect">
            <a:avLst>
              <a:gd name="adj" fmla="val 5161"/>
            </a:avLst>
          </a:prstGeom>
          <a:solidFill>
            <a:srgbClr val="F7F9FB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1901952"/>
            <a:ext cx="320040" cy="320040"/>
          </a:xfrm>
          <a:prstGeom prst="ellipse">
            <a:avLst/>
          </a:prstGeom>
          <a:solidFill>
            <a:srgbClr val="264DE4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234440" y="187452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Nome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822960" y="2423160"/>
            <a:ext cx="3154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C72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color: blue;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1737360"/>
            <a:ext cx="3520440" cy="1417320"/>
          </a:xfrm>
          <a:prstGeom prst="roundRect">
            <a:avLst>
              <a:gd name="adj" fmla="val 5161"/>
            </a:avLst>
          </a:prstGeom>
          <a:solidFill>
            <a:srgbClr val="F7F9FB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480560" y="1901952"/>
            <a:ext cx="320040" cy="320040"/>
          </a:xfrm>
          <a:prstGeom prst="ellipse">
            <a:avLst/>
          </a:prstGeom>
          <a:solidFill>
            <a:srgbClr val="1C7293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892040" y="187452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Hexadecimal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4480560" y="2423160"/>
            <a:ext cx="3154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C72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color: #1C7293;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7955280" y="1737360"/>
            <a:ext cx="3520440" cy="1417320"/>
          </a:xfrm>
          <a:prstGeom prst="roundRect">
            <a:avLst>
              <a:gd name="adj" fmla="val 5161"/>
            </a:avLst>
          </a:prstGeom>
          <a:solidFill>
            <a:srgbClr val="F7F9FB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138160" y="1901952"/>
            <a:ext cx="320040" cy="32004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549640" y="187452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RGB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8138160" y="2423160"/>
            <a:ext cx="3154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C72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color: rgb(30,39,97);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40080" y="3337560"/>
            <a:ext cx="3520440" cy="1417320"/>
          </a:xfrm>
          <a:prstGeom prst="roundRect">
            <a:avLst>
              <a:gd name="adj" fmla="val 5161"/>
            </a:avLst>
          </a:prstGeom>
          <a:solidFill>
            <a:srgbClr val="F7F9FB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22960" y="3502152"/>
            <a:ext cx="320040" cy="32004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234440" y="347472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RGBA (transparência)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822960" y="4023360"/>
            <a:ext cx="3154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C72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color: rgba(30,39,97,.5);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297680" y="3337560"/>
            <a:ext cx="3520440" cy="1417320"/>
          </a:xfrm>
          <a:prstGeom prst="roundRect">
            <a:avLst>
              <a:gd name="adj" fmla="val 5161"/>
            </a:avLst>
          </a:prstGeom>
          <a:solidFill>
            <a:srgbClr val="F7F9FB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480560" y="3502152"/>
            <a:ext cx="320040" cy="320040"/>
          </a:xfrm>
          <a:prstGeom prst="ellipse">
            <a:avLst/>
          </a:prstGeom>
          <a:solidFill>
            <a:srgbClr val="2266C2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892040" y="347472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HSL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4480560" y="4023360"/>
            <a:ext cx="3154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C72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color: hsl(210,70%,45%);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7955280" y="3337560"/>
            <a:ext cx="3520440" cy="1417320"/>
          </a:xfrm>
          <a:prstGeom prst="roundRect">
            <a:avLst>
              <a:gd name="adj" fmla="val 5161"/>
            </a:avLst>
          </a:prstGeom>
          <a:solidFill>
            <a:srgbClr val="F7F9FB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138160" y="3502152"/>
            <a:ext cx="320040" cy="320040"/>
          </a:xfrm>
          <a:prstGeom prst="ellipse">
            <a:avLst/>
          </a:prstGeom>
          <a:solidFill>
            <a:srgbClr val="E2E8F0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549640" y="347472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Palavras-chave especiais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8138160" y="4023360"/>
            <a:ext cx="3154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C72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color: transparent;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11551615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Unidades de medida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40080" y="1371600"/>
            <a:ext cx="35204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22960" y="1508760"/>
            <a:ext cx="3154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64DE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px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822960" y="2057400"/>
            <a:ext cx="3154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Pixels — valor fixo, não escala.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297680" y="1371600"/>
            <a:ext cx="35204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480560" y="1508760"/>
            <a:ext cx="3154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64DE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%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4480560" y="2057400"/>
            <a:ext cx="3154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Percentual em relação ao elemento pai.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7955280" y="1371600"/>
            <a:ext cx="35204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138160" y="1508760"/>
            <a:ext cx="3154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64DE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em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8138160" y="2057400"/>
            <a:ext cx="3154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Relativo ao tamanho de fonte do elemento pai.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40080" y="2971800"/>
            <a:ext cx="35204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22960" y="3108960"/>
            <a:ext cx="3154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64DE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rem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822960" y="3657600"/>
            <a:ext cx="3154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Relativo ao tamanho de fonte do &lt;html&gt; (raiz).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297680" y="2971800"/>
            <a:ext cx="35204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480560" y="3108960"/>
            <a:ext cx="3154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64DE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vw / vh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4480560" y="3657600"/>
            <a:ext cx="3154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Percentual da largura/altura da tela (viewport).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7955280" y="2971800"/>
            <a:ext cx="35204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138160" y="3108960"/>
            <a:ext cx="3154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64DE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auto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8138160" y="3657600"/>
            <a:ext cx="3154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navegador calcula o valor automaticamente.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640080" y="5029200"/>
            <a:ext cx="10881360" cy="1234440"/>
          </a:xfrm>
          <a:prstGeom prst="roundRect">
            <a:avLst>
              <a:gd name="adj" fmla="val 7407"/>
            </a:avLst>
          </a:prstGeom>
          <a:solidFill>
            <a:srgbClr val="1E2761"/>
          </a:solidFill>
          <a:ln/>
        </p:spPr>
      </p:sp>
      <p:sp>
        <p:nvSpPr>
          <p:cNvPr id="22" name="Text 20"/>
          <p:cNvSpPr/>
          <p:nvPr/>
        </p:nvSpPr>
        <p:spPr>
          <a:xfrm>
            <a:off x="960120" y="5029200"/>
            <a:ext cx="1024128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Dica: prefira "rem" para fontes e espaçamentos — facilita ajustes de acessibilidade e responsividade em todo o site de uma vez.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11551615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Fontes e texto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40080" y="1371600"/>
            <a:ext cx="5669280" cy="4206240"/>
          </a:xfrm>
          <a:prstGeom prst="roundRect">
            <a:avLst>
              <a:gd name="adj" fmla="val 1739"/>
            </a:avLst>
          </a:prstGeom>
          <a:solidFill>
            <a:srgbClr val="12172E"/>
          </a:solidFill>
          <a:ln/>
        </p:spPr>
      </p:sp>
      <p:sp>
        <p:nvSpPr>
          <p:cNvPr id="4" name="Shape 2"/>
          <p:cNvSpPr/>
          <p:nvPr/>
        </p:nvSpPr>
        <p:spPr>
          <a:xfrm>
            <a:off x="822960" y="1536192"/>
            <a:ext cx="128016" cy="128016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5" name="Shape 3"/>
          <p:cNvSpPr/>
          <p:nvPr/>
        </p:nvSpPr>
        <p:spPr>
          <a:xfrm>
            <a:off x="1024128" y="1536192"/>
            <a:ext cx="128016" cy="128016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6" name="Shape 4"/>
          <p:cNvSpPr/>
          <p:nvPr/>
        </p:nvSpPr>
        <p:spPr>
          <a:xfrm>
            <a:off x="1225296" y="1536192"/>
            <a:ext cx="128016" cy="128016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1828800"/>
            <a:ext cx="5120640" cy="3611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FFA6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 {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font-family: </a:t>
            </a:r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EE7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Arial, sans-serif</a:t>
            </a:r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font-size: </a:t>
            </a:r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EE7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16px</a:t>
            </a:r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font-weight: </a:t>
            </a:r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EE7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bold</a:t>
            </a:r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font-style: </a:t>
            </a:r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EE7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italic</a:t>
            </a:r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text-align: </a:t>
            </a:r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EE7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center</a:t>
            </a:r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text-decoration: </a:t>
            </a:r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EE7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underline</a:t>
            </a:r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line-height: </a:t>
            </a:r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EE7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1.5</a:t>
            </a:r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color: </a:t>
            </a:r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EE7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#333</a:t>
            </a:r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537960" y="1371600"/>
            <a:ext cx="5029200" cy="685800"/>
          </a:xfrm>
          <a:prstGeom prst="roundRect">
            <a:avLst>
              <a:gd name="adj" fmla="val 8000"/>
            </a:avLst>
          </a:prstGeom>
          <a:solidFill>
            <a:srgbClr val="2E3A6E"/>
          </a:solidFill>
          <a:ln/>
        </p:spPr>
      </p:sp>
      <p:sp>
        <p:nvSpPr>
          <p:cNvPr id="9" name="Text 7"/>
          <p:cNvSpPr/>
          <p:nvPr/>
        </p:nvSpPr>
        <p:spPr>
          <a:xfrm>
            <a:off x="6766560" y="1444752"/>
            <a:ext cx="2011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A6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font-family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8778240" y="1444752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 fonte usar.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6537960" y="2194560"/>
            <a:ext cx="5029200" cy="685800"/>
          </a:xfrm>
          <a:prstGeom prst="roundRect">
            <a:avLst>
              <a:gd name="adj" fmla="val 8000"/>
            </a:avLst>
          </a:prstGeom>
          <a:solidFill>
            <a:srgbClr val="2E3A6E"/>
          </a:solidFill>
          <a:ln/>
        </p:spPr>
      </p:sp>
      <p:sp>
        <p:nvSpPr>
          <p:cNvPr id="12" name="Text 10"/>
          <p:cNvSpPr/>
          <p:nvPr/>
        </p:nvSpPr>
        <p:spPr>
          <a:xfrm>
            <a:off x="6766560" y="2267712"/>
            <a:ext cx="2011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A6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font-size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8778240" y="2267712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Tamanho do texto.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6537960" y="3017520"/>
            <a:ext cx="5029200" cy="685800"/>
          </a:xfrm>
          <a:prstGeom prst="roundRect">
            <a:avLst>
              <a:gd name="adj" fmla="val 8000"/>
            </a:avLst>
          </a:prstGeom>
          <a:solidFill>
            <a:srgbClr val="2E3A6E"/>
          </a:solidFill>
          <a:ln/>
        </p:spPr>
      </p:sp>
      <p:sp>
        <p:nvSpPr>
          <p:cNvPr id="15" name="Text 13"/>
          <p:cNvSpPr/>
          <p:nvPr/>
        </p:nvSpPr>
        <p:spPr>
          <a:xfrm>
            <a:off x="6766560" y="3090672"/>
            <a:ext cx="2011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A6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font-weight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8778240" y="3090672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Peso (normal, bold, 400, 700...).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6537960" y="3840480"/>
            <a:ext cx="5029200" cy="685800"/>
          </a:xfrm>
          <a:prstGeom prst="roundRect">
            <a:avLst>
              <a:gd name="adj" fmla="val 8000"/>
            </a:avLst>
          </a:prstGeom>
          <a:solidFill>
            <a:srgbClr val="2E3A6E"/>
          </a:solidFill>
          <a:ln/>
        </p:spPr>
      </p:sp>
      <p:sp>
        <p:nvSpPr>
          <p:cNvPr id="18" name="Text 16"/>
          <p:cNvSpPr/>
          <p:nvPr/>
        </p:nvSpPr>
        <p:spPr>
          <a:xfrm>
            <a:off x="6766560" y="3913632"/>
            <a:ext cx="2011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A6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text-align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8778240" y="3913632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Alinhamento (left, center, right).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6537960" y="4663440"/>
            <a:ext cx="5029200" cy="685800"/>
          </a:xfrm>
          <a:prstGeom prst="roundRect">
            <a:avLst>
              <a:gd name="adj" fmla="val 8000"/>
            </a:avLst>
          </a:prstGeom>
          <a:solidFill>
            <a:srgbClr val="2E3A6E"/>
          </a:solidFill>
          <a:ln/>
        </p:spPr>
      </p:sp>
      <p:sp>
        <p:nvSpPr>
          <p:cNvPr id="21" name="Text 19"/>
          <p:cNvSpPr/>
          <p:nvPr/>
        </p:nvSpPr>
        <p:spPr>
          <a:xfrm>
            <a:off x="6766560" y="4736592"/>
            <a:ext cx="2011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A6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line-height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8778240" y="4736592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Altura da linha (espaçamento vertical).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11551615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Box Model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114300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Todo elemento HTML é, na verdade, uma caixa retangular.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3108960" y="1737360"/>
            <a:ext cx="5943600" cy="4572000"/>
          </a:xfrm>
          <a:prstGeom prst="roundRect">
            <a:avLst>
              <a:gd name="adj" fmla="val 1200"/>
            </a:avLst>
          </a:prstGeom>
          <a:solidFill>
            <a:srgbClr val="F5CBA7"/>
          </a:solidFill>
          <a:ln/>
        </p:spPr>
      </p:sp>
      <p:sp>
        <p:nvSpPr>
          <p:cNvPr id="5" name="Text 3"/>
          <p:cNvSpPr/>
          <p:nvPr/>
        </p:nvSpPr>
        <p:spPr>
          <a:xfrm>
            <a:off x="3246120" y="182880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A5A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margin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657600" y="2286000"/>
            <a:ext cx="4846320" cy="3474720"/>
          </a:xfrm>
          <a:prstGeom prst="roundRect">
            <a:avLst>
              <a:gd name="adj" fmla="val 1579"/>
            </a:avLst>
          </a:prstGeom>
          <a:solidFill>
            <a:srgbClr val="F9E79F"/>
          </a:solidFill>
          <a:ln/>
        </p:spPr>
      </p:sp>
      <p:sp>
        <p:nvSpPr>
          <p:cNvPr id="7" name="Text 5"/>
          <p:cNvSpPr/>
          <p:nvPr/>
        </p:nvSpPr>
        <p:spPr>
          <a:xfrm>
            <a:off x="3794760" y="237744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A6D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border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114800" y="2743200"/>
            <a:ext cx="3931920" cy="2560320"/>
          </a:xfrm>
          <a:prstGeom prst="roundRect">
            <a:avLst>
              <a:gd name="adj" fmla="val 2143"/>
            </a:avLst>
          </a:prstGeom>
          <a:solidFill>
            <a:srgbClr val="ABEBC6"/>
          </a:solidFill>
          <a:ln/>
        </p:spPr>
      </p:sp>
      <p:sp>
        <p:nvSpPr>
          <p:cNvPr id="9" name="Text 7"/>
          <p:cNvSpPr/>
          <p:nvPr/>
        </p:nvSpPr>
        <p:spPr>
          <a:xfrm>
            <a:off x="4251960" y="283464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7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padding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72000" y="3200400"/>
            <a:ext cx="3017520" cy="1645920"/>
          </a:xfrm>
          <a:prstGeom prst="roundRect">
            <a:avLst>
              <a:gd name="adj" fmla="val 3333"/>
            </a:avLst>
          </a:prstGeom>
          <a:solidFill>
            <a:srgbClr val="065A82"/>
          </a:solidFill>
          <a:ln/>
        </p:spPr>
      </p:sp>
      <p:sp>
        <p:nvSpPr>
          <p:cNvPr id="11" name="Text 9"/>
          <p:cNvSpPr/>
          <p:nvPr/>
        </p:nvSpPr>
        <p:spPr>
          <a:xfrm>
            <a:off x="4572000" y="3200400"/>
            <a:ext cx="301752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1551615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7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Box Model — propriedades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640080" y="1280160"/>
            <a:ext cx="5257800" cy="3291840"/>
          </a:xfrm>
          <a:prstGeom prst="roundRect">
            <a:avLst>
              <a:gd name="adj" fmla="val 2222"/>
            </a:avLst>
          </a:prstGeom>
          <a:solidFill>
            <a:srgbClr val="12172E"/>
          </a:solidFill>
          <a:ln/>
        </p:spPr>
      </p:sp>
      <p:sp>
        <p:nvSpPr>
          <p:cNvPr id="4" name="Shape 2"/>
          <p:cNvSpPr/>
          <p:nvPr/>
        </p:nvSpPr>
        <p:spPr>
          <a:xfrm>
            <a:off x="822960" y="1444752"/>
            <a:ext cx="128016" cy="128016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5" name="Shape 3"/>
          <p:cNvSpPr/>
          <p:nvPr/>
        </p:nvSpPr>
        <p:spPr>
          <a:xfrm>
            <a:off x="1024128" y="1444752"/>
            <a:ext cx="128016" cy="128016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6" name="Shape 4"/>
          <p:cNvSpPr/>
          <p:nvPr/>
        </p:nvSpPr>
        <p:spPr>
          <a:xfrm>
            <a:off x="1225296" y="1444752"/>
            <a:ext cx="128016" cy="128016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1737360"/>
            <a:ext cx="4709160" cy="2697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FFA6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.card {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width: </a:t>
            </a:r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7EE7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300px</a:t>
            </a:r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padding: </a:t>
            </a:r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7EE7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16px</a:t>
            </a:r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border: </a:t>
            </a:r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7EE7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2px solid #ccc</a:t>
            </a:r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margin: </a:t>
            </a:r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7EE7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20px auto</a:t>
            </a:r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/* atalho: cima direita baixo esquerda */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padding: </a:t>
            </a:r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7EE7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10px 20px 10px 20px</a:t>
            </a:r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263640" y="1280160"/>
            <a:ext cx="5257800" cy="713232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92240" y="1371600"/>
            <a:ext cx="16459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64DE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content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8138160" y="1371600"/>
            <a:ext cx="32004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B2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conteúdo em si (texto, imagem).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6263640" y="2121408"/>
            <a:ext cx="5257800" cy="713232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92240" y="2212848"/>
            <a:ext cx="16459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64DE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padding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8138160" y="2212848"/>
            <a:ext cx="32004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B2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Espaço interno entre o conteúdo e a borda.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6263640" y="2962656"/>
            <a:ext cx="5257800" cy="713232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92240" y="3054096"/>
            <a:ext cx="16459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64DE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border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8138160" y="3054096"/>
            <a:ext cx="32004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B2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borda ao redor do padding.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6263640" y="3803904"/>
            <a:ext cx="5257800" cy="713232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92240" y="3895344"/>
            <a:ext cx="16459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64DE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margin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8138160" y="3895344"/>
            <a:ext cx="32004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B2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Espaço externo, entre o elemento e os outros.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640080" y="4800600"/>
            <a:ext cx="10881360" cy="1508760"/>
          </a:xfrm>
          <a:prstGeom prst="roundRect">
            <a:avLst>
              <a:gd name="adj" fmla="val 6061"/>
            </a:avLst>
          </a:prstGeom>
          <a:solidFill>
            <a:srgbClr val="1E2761"/>
          </a:solidFill>
          <a:ln/>
        </p:spPr>
      </p:sp>
      <p:sp>
        <p:nvSpPr>
          <p:cNvPr id="21" name="Text 19"/>
          <p:cNvSpPr/>
          <p:nvPr/>
        </p:nvSpPr>
        <p:spPr>
          <a:xfrm>
            <a:off x="960120" y="4937760"/>
            <a:ext cx="10241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A6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box-sizing: border-box;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960120" y="5349240"/>
            <a:ext cx="102412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Faz com que width e height já incluam padding e border — evita surpresas no dimensionamento.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11551615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propriedade display</a:t>
            </a:r>
            <a:endParaRPr lang="en-US" sz="2900" dirty="0"/>
          </a:p>
        </p:txBody>
      </p:sp>
      <p:sp>
        <p:nvSpPr>
          <p:cNvPr id="3" name="Text 1"/>
          <p:cNvSpPr/>
          <p:nvPr/>
        </p:nvSpPr>
        <p:spPr>
          <a:xfrm>
            <a:off x="640080" y="114300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 como o elemento se comporta no fluxo da página.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737360"/>
            <a:ext cx="5303520" cy="1600200"/>
          </a:xfrm>
          <a:prstGeom prst="roundRect">
            <a:avLst>
              <a:gd name="adj" fmla="val 5714"/>
            </a:avLst>
          </a:prstGeom>
          <a:solidFill>
            <a:srgbClr val="2E3A6E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1901952"/>
            <a:ext cx="4754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A6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block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914400" y="2377440"/>
            <a:ext cx="47548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Ocupa toda a largura disponível e quebra linha. Ex: div, p, h1.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217920" y="1737360"/>
            <a:ext cx="5303520" cy="1600200"/>
          </a:xfrm>
          <a:prstGeom prst="roundRect">
            <a:avLst>
              <a:gd name="adj" fmla="val 5714"/>
            </a:avLst>
          </a:prstGeom>
          <a:solidFill>
            <a:srgbClr val="2E3A6E"/>
          </a:solidFill>
          <a:ln/>
        </p:spPr>
      </p:sp>
      <p:sp>
        <p:nvSpPr>
          <p:cNvPr id="8" name="Text 6"/>
          <p:cNvSpPr/>
          <p:nvPr/>
        </p:nvSpPr>
        <p:spPr>
          <a:xfrm>
            <a:off x="6492240" y="1901952"/>
            <a:ext cx="4754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A6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inline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6492240" y="2377440"/>
            <a:ext cx="47548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Ocupa só o espaço do conteúdo, sem quebrar linha. Ex: span, a, strong.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40080" y="3520440"/>
            <a:ext cx="5303520" cy="1600200"/>
          </a:xfrm>
          <a:prstGeom prst="roundRect">
            <a:avLst>
              <a:gd name="adj" fmla="val 5714"/>
            </a:avLst>
          </a:prstGeom>
          <a:solidFill>
            <a:srgbClr val="2E3A6E"/>
          </a:solidFill>
          <a:ln/>
        </p:spPr>
      </p:sp>
      <p:sp>
        <p:nvSpPr>
          <p:cNvPr id="11" name="Text 9"/>
          <p:cNvSpPr/>
          <p:nvPr/>
        </p:nvSpPr>
        <p:spPr>
          <a:xfrm>
            <a:off x="914400" y="3685032"/>
            <a:ext cx="4754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A6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inline-block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914400" y="4160520"/>
            <a:ext cx="47548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Fica na linha, mas aceita width/height como block.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217920" y="3520440"/>
            <a:ext cx="5303520" cy="1600200"/>
          </a:xfrm>
          <a:prstGeom prst="roundRect">
            <a:avLst>
              <a:gd name="adj" fmla="val 5714"/>
            </a:avLst>
          </a:prstGeom>
          <a:solidFill>
            <a:srgbClr val="2E3A6E"/>
          </a:solidFill>
          <a:ln/>
        </p:spPr>
      </p:sp>
      <p:sp>
        <p:nvSpPr>
          <p:cNvPr id="14" name="Text 12"/>
          <p:cNvSpPr/>
          <p:nvPr/>
        </p:nvSpPr>
        <p:spPr>
          <a:xfrm>
            <a:off x="6492240" y="3685032"/>
            <a:ext cx="4754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A6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none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6492240" y="4160520"/>
            <a:ext cx="47548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 o elemento completamente da página (não ocupa espaço).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11551615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Background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40080" y="1280160"/>
            <a:ext cx="5669280" cy="3566160"/>
          </a:xfrm>
          <a:prstGeom prst="roundRect">
            <a:avLst>
              <a:gd name="adj" fmla="val 2051"/>
            </a:avLst>
          </a:prstGeom>
          <a:solidFill>
            <a:srgbClr val="12172E"/>
          </a:solidFill>
          <a:ln/>
        </p:spPr>
      </p:sp>
      <p:sp>
        <p:nvSpPr>
          <p:cNvPr id="4" name="Shape 2"/>
          <p:cNvSpPr/>
          <p:nvPr/>
        </p:nvSpPr>
        <p:spPr>
          <a:xfrm>
            <a:off x="822960" y="1444752"/>
            <a:ext cx="128016" cy="128016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5" name="Shape 3"/>
          <p:cNvSpPr/>
          <p:nvPr/>
        </p:nvSpPr>
        <p:spPr>
          <a:xfrm>
            <a:off x="1024128" y="1444752"/>
            <a:ext cx="128016" cy="128016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6" name="Shape 4"/>
          <p:cNvSpPr/>
          <p:nvPr/>
        </p:nvSpPr>
        <p:spPr>
          <a:xfrm>
            <a:off x="1225296" y="1444752"/>
            <a:ext cx="128016" cy="128016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1737360"/>
            <a:ext cx="5120640" cy="2971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FFA6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.hero {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background-color: </a:t>
            </a:r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7EE7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#1E2761</a:t>
            </a:r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background-image: </a:t>
            </a:r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7EE7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url("foto.jpg")</a:t>
            </a:r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background-size: </a:t>
            </a:r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7EE7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cover</a:t>
            </a:r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background-position: </a:t>
            </a:r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7EE7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center</a:t>
            </a:r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background-repeat: </a:t>
            </a:r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7EE7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no-repeat</a:t>
            </a:r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537960" y="1280160"/>
            <a:ext cx="5029200" cy="594360"/>
          </a:xfrm>
          <a:prstGeom prst="roundRect">
            <a:avLst>
              <a:gd name="adj" fmla="val 9231"/>
            </a:avLst>
          </a:prstGeom>
          <a:solidFill>
            <a:srgbClr val="F7F9FB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766560" y="1353312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64DE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background-color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9144000" y="1353312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B2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 de fundo.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6537960" y="1993392"/>
            <a:ext cx="5029200" cy="594360"/>
          </a:xfrm>
          <a:prstGeom prst="roundRect">
            <a:avLst>
              <a:gd name="adj" fmla="val 9231"/>
            </a:avLst>
          </a:prstGeom>
          <a:solidFill>
            <a:srgbClr val="F7F9FB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766560" y="2066544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64DE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background-image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9144000" y="2066544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B2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Imagem de fundo.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6537960" y="2706624"/>
            <a:ext cx="5029200" cy="594360"/>
          </a:xfrm>
          <a:prstGeom prst="roundRect">
            <a:avLst>
              <a:gd name="adj" fmla="val 9231"/>
            </a:avLst>
          </a:prstGeom>
          <a:solidFill>
            <a:srgbClr val="F7F9FB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766560" y="2779776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64DE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background-size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9144000" y="2779776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B2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a imagem se ajusta (cover, contain).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6537960" y="3419856"/>
            <a:ext cx="5029200" cy="594360"/>
          </a:xfrm>
          <a:prstGeom prst="roundRect">
            <a:avLst>
              <a:gd name="adj" fmla="val 9231"/>
            </a:avLst>
          </a:prstGeom>
          <a:solidFill>
            <a:srgbClr val="F7F9FB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766560" y="3493008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64DE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background-position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9144000" y="3493008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B2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Posição da imagem.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6537960" y="4133088"/>
            <a:ext cx="5029200" cy="594360"/>
          </a:xfrm>
          <a:prstGeom prst="roundRect">
            <a:avLst>
              <a:gd name="adj" fmla="val 9231"/>
            </a:avLst>
          </a:prstGeom>
          <a:solidFill>
            <a:srgbClr val="F7F9FB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766560" y="420624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64DE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background-repeat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9144000" y="420624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B2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a imagem se repete (tile) ou não.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640080" y="5029200"/>
            <a:ext cx="10881360" cy="1234440"/>
          </a:xfrm>
          <a:prstGeom prst="roundRect">
            <a:avLst>
              <a:gd name="adj" fmla="val 7407"/>
            </a:avLst>
          </a:prstGeom>
          <a:solidFill>
            <a:srgbClr val="1C7293"/>
          </a:solidFill>
          <a:ln/>
        </p:spPr>
      </p:sp>
      <p:sp>
        <p:nvSpPr>
          <p:cNvPr id="24" name="Text 22"/>
          <p:cNvSpPr/>
          <p:nvPr/>
        </p:nvSpPr>
        <p:spPr>
          <a:xfrm>
            <a:off x="960120" y="5029200"/>
            <a:ext cx="1024128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i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Atalho: background: #1E2761 url("foto.jpg") center / cover no-repeat;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11551615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7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Bordas e cantos arredondados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640080" y="1371600"/>
            <a:ext cx="5394960" cy="2514600"/>
          </a:xfrm>
          <a:prstGeom prst="roundRect">
            <a:avLst>
              <a:gd name="adj" fmla="val 2909"/>
            </a:avLst>
          </a:prstGeom>
          <a:solidFill>
            <a:srgbClr val="12172E"/>
          </a:solidFill>
          <a:ln/>
        </p:spPr>
      </p:sp>
      <p:sp>
        <p:nvSpPr>
          <p:cNvPr id="4" name="Shape 2"/>
          <p:cNvSpPr/>
          <p:nvPr/>
        </p:nvSpPr>
        <p:spPr>
          <a:xfrm>
            <a:off x="822960" y="1536192"/>
            <a:ext cx="128016" cy="128016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5" name="Shape 3"/>
          <p:cNvSpPr/>
          <p:nvPr/>
        </p:nvSpPr>
        <p:spPr>
          <a:xfrm>
            <a:off x="1024128" y="1536192"/>
            <a:ext cx="128016" cy="128016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6" name="Shape 4"/>
          <p:cNvSpPr/>
          <p:nvPr/>
        </p:nvSpPr>
        <p:spPr>
          <a:xfrm>
            <a:off x="1225296" y="1536192"/>
            <a:ext cx="128016" cy="128016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1828800"/>
            <a:ext cx="4846320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FFA6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.botao {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border: </a:t>
            </a:r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EE7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2px solid #1C7293</a:t>
            </a:r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border-radius: </a:t>
            </a:r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EE7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8px</a:t>
            </a:r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FFA6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.avatar {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border-radius: </a:t>
            </a:r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EE7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50%</a:t>
            </a:r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492240" y="1463040"/>
            <a:ext cx="2194560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31750">
            <a:solidFill>
              <a:srgbClr val="1C729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92240" y="269748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border-radius: 8px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9144000" y="1463040"/>
            <a:ext cx="1097280" cy="109728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1" name="Text 9"/>
          <p:cNvSpPr/>
          <p:nvPr/>
        </p:nvSpPr>
        <p:spPr>
          <a:xfrm>
            <a:off x="8823960" y="2697480"/>
            <a:ext cx="1737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border-radius: 50%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640080" y="4069080"/>
            <a:ext cx="10881360" cy="73152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14400" y="4069080"/>
            <a:ext cx="4389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64DE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border-width / style / color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5394960" y="4069080"/>
            <a:ext cx="5943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2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Espessura, estilo (solid, dashed, dotted) e cor.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640080" y="4937760"/>
            <a:ext cx="10881360" cy="73152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14400" y="4937760"/>
            <a:ext cx="4389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64DE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border-radius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5394960" y="4937760"/>
            <a:ext cx="5943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2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Arredonda os cantos — 50% cria um círculo.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640080" y="5806440"/>
            <a:ext cx="10881360" cy="73152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14400" y="5806440"/>
            <a:ext cx="4389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64DE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border-top / -right / -bottom / -left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5394960" y="5806440"/>
            <a:ext cx="5943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2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Controla cada lado da borda individualmente.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11551615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Especificidade e cascata</a:t>
            </a:r>
            <a:endParaRPr lang="en-US" sz="2900" dirty="0"/>
          </a:p>
        </p:txBody>
      </p:sp>
      <p:sp>
        <p:nvSpPr>
          <p:cNvPr id="3" name="Text 1"/>
          <p:cNvSpPr/>
          <p:nvPr/>
        </p:nvSpPr>
        <p:spPr>
          <a:xfrm>
            <a:off x="640080" y="114300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Quando várias regras se aplicam ao mesmo elemento, qual vence?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737360"/>
            <a:ext cx="10881360" cy="914400"/>
          </a:xfrm>
          <a:prstGeom prst="roundRect">
            <a:avLst>
              <a:gd name="adj" fmla="val 8000"/>
            </a:avLst>
          </a:prstGeom>
          <a:solidFill>
            <a:srgbClr val="2E3A6E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1737360"/>
            <a:ext cx="3657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A6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Origem e importância</a:t>
            </a:r>
            <a:endParaRPr lang="en-US" sz="1450" dirty="0"/>
          </a:p>
        </p:txBody>
      </p:sp>
      <p:sp>
        <p:nvSpPr>
          <p:cNvPr id="6" name="Text 4"/>
          <p:cNvSpPr/>
          <p:nvPr/>
        </p:nvSpPr>
        <p:spPr>
          <a:xfrm>
            <a:off x="4663440" y="1737360"/>
            <a:ext cx="66751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!important &gt; estilo inline &gt; CSS do autor.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40080" y="2788920"/>
            <a:ext cx="10881360" cy="914400"/>
          </a:xfrm>
          <a:prstGeom prst="roundRect">
            <a:avLst>
              <a:gd name="adj" fmla="val 8000"/>
            </a:avLst>
          </a:prstGeom>
          <a:solidFill>
            <a:srgbClr val="2E3A6E"/>
          </a:solidFill>
          <a:ln/>
        </p:spPr>
      </p:sp>
      <p:sp>
        <p:nvSpPr>
          <p:cNvPr id="8" name="Text 6"/>
          <p:cNvSpPr/>
          <p:nvPr/>
        </p:nvSpPr>
        <p:spPr>
          <a:xfrm>
            <a:off x="914400" y="2788920"/>
            <a:ext cx="3657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A6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Especificidade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4663440" y="2788920"/>
            <a:ext cx="66751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 (#id) &gt; Classe (.classe) &gt; Elemento (tag).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640080" y="3840480"/>
            <a:ext cx="10881360" cy="914400"/>
          </a:xfrm>
          <a:prstGeom prst="roundRect">
            <a:avLst>
              <a:gd name="adj" fmla="val 8000"/>
            </a:avLst>
          </a:prstGeom>
          <a:solidFill>
            <a:srgbClr val="2E3A6E"/>
          </a:solidFill>
          <a:ln/>
        </p:spPr>
      </p:sp>
      <p:sp>
        <p:nvSpPr>
          <p:cNvPr id="11" name="Text 9"/>
          <p:cNvSpPr/>
          <p:nvPr/>
        </p:nvSpPr>
        <p:spPr>
          <a:xfrm>
            <a:off x="914400" y="3840480"/>
            <a:ext cx="3657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A6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Ordem no código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4663440" y="3840480"/>
            <a:ext cx="66751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 caso de empate, a última regra declarada vence.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640080" y="5029200"/>
            <a:ext cx="10881360" cy="1371600"/>
          </a:xfrm>
          <a:prstGeom prst="roundRect">
            <a:avLst>
              <a:gd name="adj" fmla="val 5333"/>
            </a:avLst>
          </a:prstGeom>
          <a:solidFill>
            <a:srgbClr val="12172E"/>
          </a:solidFill>
          <a:ln/>
        </p:spPr>
      </p:sp>
      <p:sp>
        <p:nvSpPr>
          <p:cNvPr id="14" name="Shape 12"/>
          <p:cNvSpPr/>
          <p:nvPr/>
        </p:nvSpPr>
        <p:spPr>
          <a:xfrm>
            <a:off x="822960" y="5193792"/>
            <a:ext cx="128016" cy="128016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15" name="Shape 13"/>
          <p:cNvSpPr/>
          <p:nvPr/>
        </p:nvSpPr>
        <p:spPr>
          <a:xfrm>
            <a:off x="1024128" y="5193792"/>
            <a:ext cx="128016" cy="128016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16" name="Shape 14"/>
          <p:cNvSpPr/>
          <p:nvPr/>
        </p:nvSpPr>
        <p:spPr>
          <a:xfrm>
            <a:off x="1225296" y="5193792"/>
            <a:ext cx="128016" cy="128016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17" name="Text 15"/>
          <p:cNvSpPr/>
          <p:nvPr/>
        </p:nvSpPr>
        <p:spPr>
          <a:xfrm>
            <a:off x="914400" y="5486400"/>
            <a:ext cx="103327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 { color: </a:t>
            </a:r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7EE7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blue</a:t>
            </a:r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 }</a:t>
            </a:r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</a:t>
            </a:r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/* especificidade: 1 */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#intro { color: </a:t>
            </a:r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7EE7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red</a:t>
            </a:r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 }</a:t>
            </a:r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</a:t>
            </a:r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/* especificidade: 100 → vence */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11551615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Pseudo-classes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114300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Aplicam estilo com base em um estado ou posição do elemento.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5669280" cy="4114800"/>
          </a:xfrm>
          <a:prstGeom prst="roundRect">
            <a:avLst>
              <a:gd name="adj" fmla="val 1778"/>
            </a:avLst>
          </a:prstGeom>
          <a:solidFill>
            <a:srgbClr val="12172E"/>
          </a:solidFill>
          <a:ln/>
        </p:spPr>
      </p:sp>
      <p:sp>
        <p:nvSpPr>
          <p:cNvPr id="5" name="Shape 3"/>
          <p:cNvSpPr/>
          <p:nvPr/>
        </p:nvSpPr>
        <p:spPr>
          <a:xfrm>
            <a:off x="822960" y="1856232"/>
            <a:ext cx="128016" cy="128016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6" name="Shape 4"/>
          <p:cNvSpPr/>
          <p:nvPr/>
        </p:nvSpPr>
        <p:spPr>
          <a:xfrm>
            <a:off x="1024128" y="1856232"/>
            <a:ext cx="128016" cy="128016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7" name="Shape 5"/>
          <p:cNvSpPr/>
          <p:nvPr/>
        </p:nvSpPr>
        <p:spPr>
          <a:xfrm>
            <a:off x="1225296" y="1856232"/>
            <a:ext cx="128016" cy="128016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8" name="Text 6"/>
          <p:cNvSpPr/>
          <p:nvPr/>
        </p:nvSpPr>
        <p:spPr>
          <a:xfrm>
            <a:off x="914400" y="2148840"/>
            <a:ext cx="5120640" cy="3520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a:</a:t>
            </a:r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FFA6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hover</a:t>
            </a:r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{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color: </a:t>
            </a:r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EE7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red</a:t>
            </a:r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input:</a:t>
            </a:r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FFA6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focus</a:t>
            </a:r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{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border-color: </a:t>
            </a:r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EE7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blue</a:t>
            </a:r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li:</a:t>
            </a:r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FFA6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first-child</a:t>
            </a:r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{ }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li:</a:t>
            </a:r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FFA6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last-child</a:t>
            </a:r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{ }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li:</a:t>
            </a:r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FFA6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nth-child(2)</a:t>
            </a:r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{ }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537960" y="1691640"/>
            <a:ext cx="5029200" cy="868680"/>
          </a:xfrm>
          <a:prstGeom prst="roundRect">
            <a:avLst>
              <a:gd name="adj" fmla="val 8421"/>
            </a:avLst>
          </a:prstGeom>
          <a:solidFill>
            <a:srgbClr val="F7F9FB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766560" y="178308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64DE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:hover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766560" y="21488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B2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Quando o mouse passa por cima.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6537960" y="2697480"/>
            <a:ext cx="5029200" cy="868680"/>
          </a:xfrm>
          <a:prstGeom prst="roundRect">
            <a:avLst>
              <a:gd name="adj" fmla="val 8421"/>
            </a:avLst>
          </a:prstGeom>
          <a:solidFill>
            <a:srgbClr val="F7F9FB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766560" y="278892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64DE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:focus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766560" y="31546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B2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Quando o elemento está selecionado (foco).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6537960" y="3703320"/>
            <a:ext cx="5029200" cy="868680"/>
          </a:xfrm>
          <a:prstGeom prst="roundRect">
            <a:avLst>
              <a:gd name="adj" fmla="val 8421"/>
            </a:avLst>
          </a:prstGeom>
          <a:solidFill>
            <a:srgbClr val="F7F9FB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766560" y="379476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64DE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:first-child / :last-child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766560" y="416052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B2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Primeiro ou último filho.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6537960" y="4709160"/>
            <a:ext cx="5029200" cy="868680"/>
          </a:xfrm>
          <a:prstGeom prst="roundRect">
            <a:avLst>
              <a:gd name="adj" fmla="val 8421"/>
            </a:avLst>
          </a:prstGeom>
          <a:solidFill>
            <a:srgbClr val="F7F9FB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766560" y="480060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64DE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:nth-child(n)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766560" y="516636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B2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Filho em uma posição específica.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11551615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1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7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Comentários em CSS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114300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Servem para deixar anotações no código — não afetam a página.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10881360" cy="2468880"/>
          </a:xfrm>
          <a:prstGeom prst="roundRect">
            <a:avLst>
              <a:gd name="adj" fmla="val 2963"/>
            </a:avLst>
          </a:prstGeom>
          <a:solidFill>
            <a:srgbClr val="12172E"/>
          </a:solidFill>
          <a:ln/>
        </p:spPr>
      </p:sp>
      <p:sp>
        <p:nvSpPr>
          <p:cNvPr id="5" name="Shape 3"/>
          <p:cNvSpPr/>
          <p:nvPr/>
        </p:nvSpPr>
        <p:spPr>
          <a:xfrm>
            <a:off x="822960" y="1993392"/>
            <a:ext cx="128016" cy="128016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6" name="Shape 4"/>
          <p:cNvSpPr/>
          <p:nvPr/>
        </p:nvSpPr>
        <p:spPr>
          <a:xfrm>
            <a:off x="1024128" y="1993392"/>
            <a:ext cx="128016" cy="128016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7" name="Shape 5"/>
          <p:cNvSpPr/>
          <p:nvPr/>
        </p:nvSpPr>
        <p:spPr>
          <a:xfrm>
            <a:off x="1225296" y="1993392"/>
            <a:ext cx="128016" cy="128016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8" name="Text 6"/>
          <p:cNvSpPr/>
          <p:nvPr/>
        </p:nvSpPr>
        <p:spPr>
          <a:xfrm>
            <a:off x="914400" y="2286000"/>
            <a:ext cx="10332720" cy="1874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/* Isto é um comentário */</a:t>
            </a:r>
            <a:endParaRPr lang="en-US" sz="1500" dirty="0"/>
          </a:p>
          <a:p>
            <a:pPr indent="0" marL="0">
              <a:lnSpc>
                <a:spcPct val="125000"/>
              </a:lnSpc>
              <a:buNone/>
            </a:pPr>
            <a:endParaRPr lang="en-US" sz="15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/* ===== Cabeçalho ===== */</a:t>
            </a:r>
            <a:endParaRPr lang="en-US" sz="15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FFA6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header {</a:t>
            </a:r>
            <a:endParaRPr lang="en-US" sz="15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background-color: </a:t>
            </a:r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7EE7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#1E2761</a:t>
            </a:r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5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640080" y="457200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64D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que servem?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640080" y="5029200"/>
            <a:ext cx="5303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Organizar seções do CSS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126480" y="5029200"/>
            <a:ext cx="5303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Explicar decisões de estilo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40080" y="5486400"/>
            <a:ext cx="5303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Desativar temporariamente uma regra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126480" y="5486400"/>
            <a:ext cx="5303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Deixar recados para a equipe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1551615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1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Boas práticas com CSS</a:t>
            </a:r>
            <a:endParaRPr lang="en-US" sz="2900" dirty="0"/>
          </a:p>
        </p:txBody>
      </p:sp>
      <p:sp>
        <p:nvSpPr>
          <p:cNvPr id="3" name="Shape 1"/>
          <p:cNvSpPr/>
          <p:nvPr/>
        </p:nvSpPr>
        <p:spPr>
          <a:xfrm>
            <a:off x="640080" y="1371600"/>
            <a:ext cx="5303520" cy="914400"/>
          </a:xfrm>
          <a:prstGeom prst="roundRect">
            <a:avLst>
              <a:gd name="adj" fmla="val 8000"/>
            </a:avLst>
          </a:prstGeom>
          <a:solidFill>
            <a:srgbClr val="2E3A6E"/>
          </a:solidFill>
          <a:ln/>
        </p:spPr>
      </p:sp>
      <p:sp>
        <p:nvSpPr>
          <p:cNvPr id="4" name="Shape 2"/>
          <p:cNvSpPr/>
          <p:nvPr/>
        </p:nvSpPr>
        <p:spPr>
          <a:xfrm>
            <a:off x="822960" y="1664208"/>
            <a:ext cx="329184" cy="329184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664208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1280160" y="1371600"/>
            <a:ext cx="44805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classes em vez de IDs para estilizar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217920" y="1371600"/>
            <a:ext cx="5303520" cy="914400"/>
          </a:xfrm>
          <a:prstGeom prst="roundRect">
            <a:avLst>
              <a:gd name="adj" fmla="val 8000"/>
            </a:avLst>
          </a:prstGeom>
          <a:solidFill>
            <a:srgbClr val="2E3A6E"/>
          </a:solidFill>
          <a:ln/>
        </p:spPr>
      </p:sp>
      <p:sp>
        <p:nvSpPr>
          <p:cNvPr id="8" name="Shape 6"/>
          <p:cNvSpPr/>
          <p:nvPr/>
        </p:nvSpPr>
        <p:spPr>
          <a:xfrm>
            <a:off x="6400800" y="1664208"/>
            <a:ext cx="329184" cy="329184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0" y="1664208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6858000" y="1371600"/>
            <a:ext cx="44805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Prefira CSS externo a inline/interno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40080" y="2468880"/>
            <a:ext cx="5303520" cy="914400"/>
          </a:xfrm>
          <a:prstGeom prst="roundRect">
            <a:avLst>
              <a:gd name="adj" fmla="val 8000"/>
            </a:avLst>
          </a:prstGeom>
          <a:solidFill>
            <a:srgbClr val="2E3A6E"/>
          </a:solidFill>
          <a:ln/>
        </p:spPr>
      </p:sp>
      <p:sp>
        <p:nvSpPr>
          <p:cNvPr id="12" name="Shape 10"/>
          <p:cNvSpPr/>
          <p:nvPr/>
        </p:nvSpPr>
        <p:spPr>
          <a:xfrm>
            <a:off x="822960" y="2761488"/>
            <a:ext cx="329184" cy="329184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3" name="Text 11"/>
          <p:cNvSpPr/>
          <p:nvPr/>
        </p:nvSpPr>
        <p:spPr>
          <a:xfrm>
            <a:off x="822960" y="2761488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1280160" y="2468880"/>
            <a:ext cx="44805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Evite usar !important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217920" y="2468880"/>
            <a:ext cx="5303520" cy="914400"/>
          </a:xfrm>
          <a:prstGeom prst="roundRect">
            <a:avLst>
              <a:gd name="adj" fmla="val 8000"/>
            </a:avLst>
          </a:prstGeom>
          <a:solidFill>
            <a:srgbClr val="2E3A6E"/>
          </a:solidFill>
          <a:ln/>
        </p:spPr>
      </p:sp>
      <p:sp>
        <p:nvSpPr>
          <p:cNvPr id="16" name="Shape 14"/>
          <p:cNvSpPr/>
          <p:nvPr/>
        </p:nvSpPr>
        <p:spPr>
          <a:xfrm>
            <a:off x="6400800" y="2761488"/>
            <a:ext cx="329184" cy="329184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7" name="Text 15"/>
          <p:cNvSpPr/>
          <p:nvPr/>
        </p:nvSpPr>
        <p:spPr>
          <a:xfrm>
            <a:off x="6400800" y="2761488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6858000" y="2468880"/>
            <a:ext cx="44805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Mantenha nomes de classes descritivos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640080" y="3566160"/>
            <a:ext cx="5303520" cy="914400"/>
          </a:xfrm>
          <a:prstGeom prst="roundRect">
            <a:avLst>
              <a:gd name="adj" fmla="val 8000"/>
            </a:avLst>
          </a:prstGeom>
          <a:solidFill>
            <a:srgbClr val="2E3A6E"/>
          </a:solidFill>
          <a:ln/>
        </p:spPr>
      </p:sp>
      <p:sp>
        <p:nvSpPr>
          <p:cNvPr id="20" name="Shape 18"/>
          <p:cNvSpPr/>
          <p:nvPr/>
        </p:nvSpPr>
        <p:spPr>
          <a:xfrm>
            <a:off x="822960" y="3858768"/>
            <a:ext cx="329184" cy="329184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1" name="Text 19"/>
          <p:cNvSpPr/>
          <p:nvPr/>
        </p:nvSpPr>
        <p:spPr>
          <a:xfrm>
            <a:off x="822960" y="3858768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1280160" y="3566160"/>
            <a:ext cx="44805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Organize o CSS por seções/componentes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6217920" y="3566160"/>
            <a:ext cx="5303520" cy="914400"/>
          </a:xfrm>
          <a:prstGeom prst="roundRect">
            <a:avLst>
              <a:gd name="adj" fmla="val 8000"/>
            </a:avLst>
          </a:prstGeom>
          <a:solidFill>
            <a:srgbClr val="2E3A6E"/>
          </a:solidFill>
          <a:ln/>
        </p:spPr>
      </p:sp>
      <p:sp>
        <p:nvSpPr>
          <p:cNvPr id="24" name="Shape 22"/>
          <p:cNvSpPr/>
          <p:nvPr/>
        </p:nvSpPr>
        <p:spPr>
          <a:xfrm>
            <a:off x="6400800" y="3858768"/>
            <a:ext cx="329184" cy="329184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5" name="Text 23"/>
          <p:cNvSpPr/>
          <p:nvPr/>
        </p:nvSpPr>
        <p:spPr>
          <a:xfrm>
            <a:off x="6400800" y="3858768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6858000" y="3566160"/>
            <a:ext cx="44805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rem/em para acessibilidade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640080" y="4663440"/>
            <a:ext cx="5303520" cy="914400"/>
          </a:xfrm>
          <a:prstGeom prst="roundRect">
            <a:avLst>
              <a:gd name="adj" fmla="val 8000"/>
            </a:avLst>
          </a:prstGeom>
          <a:solidFill>
            <a:srgbClr val="2E3A6E"/>
          </a:solidFill>
          <a:ln/>
        </p:spPr>
      </p:sp>
      <p:sp>
        <p:nvSpPr>
          <p:cNvPr id="28" name="Shape 26"/>
          <p:cNvSpPr/>
          <p:nvPr/>
        </p:nvSpPr>
        <p:spPr>
          <a:xfrm>
            <a:off x="822960" y="4956048"/>
            <a:ext cx="329184" cy="329184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9" name="Text 27"/>
          <p:cNvSpPr/>
          <p:nvPr/>
        </p:nvSpPr>
        <p:spPr>
          <a:xfrm>
            <a:off x="822960" y="4956048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500" dirty="0"/>
          </a:p>
        </p:txBody>
      </p:sp>
      <p:sp>
        <p:nvSpPr>
          <p:cNvPr id="30" name="Text 28"/>
          <p:cNvSpPr/>
          <p:nvPr/>
        </p:nvSpPr>
        <p:spPr>
          <a:xfrm>
            <a:off x="1280160" y="4663440"/>
            <a:ext cx="44805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Teste em diferentes tamanhos de tela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6217920" y="4663440"/>
            <a:ext cx="5303520" cy="914400"/>
          </a:xfrm>
          <a:prstGeom prst="roundRect">
            <a:avLst>
              <a:gd name="adj" fmla="val 8000"/>
            </a:avLst>
          </a:prstGeom>
          <a:solidFill>
            <a:srgbClr val="2E3A6E"/>
          </a:solidFill>
          <a:ln/>
        </p:spPr>
      </p:sp>
      <p:sp>
        <p:nvSpPr>
          <p:cNvPr id="32" name="Shape 30"/>
          <p:cNvSpPr/>
          <p:nvPr/>
        </p:nvSpPr>
        <p:spPr>
          <a:xfrm>
            <a:off x="6400800" y="4956048"/>
            <a:ext cx="329184" cy="329184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33" name="Text 31"/>
          <p:cNvSpPr/>
          <p:nvPr/>
        </p:nvSpPr>
        <p:spPr>
          <a:xfrm>
            <a:off x="6400800" y="4956048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500" dirty="0"/>
          </a:p>
        </p:txBody>
      </p:sp>
      <p:sp>
        <p:nvSpPr>
          <p:cNvPr id="34" name="Text 32"/>
          <p:cNvSpPr/>
          <p:nvPr/>
        </p:nvSpPr>
        <p:spPr>
          <a:xfrm>
            <a:off x="6858000" y="4663440"/>
            <a:ext cx="44805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Reutilize classes em vez de repetir estilos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11551615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1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Exemplo prático: estilizando um card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640080" y="1280160"/>
            <a:ext cx="6400800" cy="5120640"/>
          </a:xfrm>
          <a:prstGeom prst="roundRect">
            <a:avLst>
              <a:gd name="adj" fmla="val 1429"/>
            </a:avLst>
          </a:prstGeom>
          <a:solidFill>
            <a:srgbClr val="12172E"/>
          </a:solidFill>
          <a:ln/>
        </p:spPr>
      </p:sp>
      <p:sp>
        <p:nvSpPr>
          <p:cNvPr id="4" name="Shape 2"/>
          <p:cNvSpPr/>
          <p:nvPr/>
        </p:nvSpPr>
        <p:spPr>
          <a:xfrm>
            <a:off x="822960" y="1444752"/>
            <a:ext cx="128016" cy="128016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5" name="Shape 3"/>
          <p:cNvSpPr/>
          <p:nvPr/>
        </p:nvSpPr>
        <p:spPr>
          <a:xfrm>
            <a:off x="1024128" y="1444752"/>
            <a:ext cx="128016" cy="128016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6" name="Shape 4"/>
          <p:cNvSpPr/>
          <p:nvPr/>
        </p:nvSpPr>
        <p:spPr>
          <a:xfrm>
            <a:off x="1225296" y="1444752"/>
            <a:ext cx="128016" cy="128016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1737360"/>
            <a:ext cx="5852160" cy="4526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FFA6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.card {</a:t>
            </a:r>
            <a:endParaRPr lang="en-US" sz="11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width: </a:t>
            </a:r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7EE7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280px</a:t>
            </a:r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1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padding: </a:t>
            </a:r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7EE7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16px</a:t>
            </a:r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1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border-radius: </a:t>
            </a:r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7EE7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12px</a:t>
            </a:r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1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background-color: </a:t>
            </a:r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7EE7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#fff</a:t>
            </a:r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1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box-shadow: </a:t>
            </a:r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7EE7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 4px 12px rgba(0,0,0,.1)</a:t>
            </a:r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1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50" dirty="0"/>
          </a:p>
          <a:p>
            <a:pPr indent="0" marL="0">
              <a:lnSpc>
                <a:spcPct val="125000"/>
              </a:lnSpc>
              <a:buNone/>
            </a:pPr>
            <a:endParaRPr lang="en-US" sz="11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FFA6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.card h3 {</a:t>
            </a:r>
            <a:endParaRPr lang="en-US" sz="11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color: </a:t>
            </a:r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7EE7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#1E2761</a:t>
            </a:r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1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font-size: </a:t>
            </a:r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7EE7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1.2rem</a:t>
            </a:r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1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50" dirty="0"/>
          </a:p>
          <a:p>
            <a:pPr indent="0" marL="0">
              <a:lnSpc>
                <a:spcPct val="125000"/>
              </a:lnSpc>
              <a:buNone/>
            </a:pPr>
            <a:endParaRPr lang="en-US" sz="11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FFA6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.card .preco {</a:t>
            </a:r>
            <a:endParaRPr lang="en-US" sz="11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color: </a:t>
            </a:r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7EE7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#1C7293</a:t>
            </a:r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1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font-weight: </a:t>
            </a:r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7EE7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bold</a:t>
            </a:r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1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50" dirty="0"/>
          </a:p>
          <a:p>
            <a:pPr indent="0" marL="0">
              <a:lnSpc>
                <a:spcPct val="125000"/>
              </a:lnSpc>
              <a:buNone/>
            </a:pPr>
            <a:endParaRPr lang="en-US" sz="11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FFA6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.card button:</a:t>
            </a:r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FFA6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hover</a:t>
            </a:r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{</a:t>
            </a:r>
            <a:endParaRPr lang="en-US" sz="11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opacity: </a:t>
            </a:r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7EE7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0.85</a:t>
            </a:r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1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7269480" y="1280160"/>
            <a:ext cx="4251960" cy="5120640"/>
          </a:xfrm>
          <a:prstGeom prst="roundRect">
            <a:avLst>
              <a:gd name="adj" fmla="val 2151"/>
            </a:avLst>
          </a:prstGeom>
          <a:solidFill>
            <a:srgbClr val="F7F9FB"/>
          </a:solidFill>
          <a:ln/>
        </p:spPr>
      </p:sp>
      <p:sp>
        <p:nvSpPr>
          <p:cNvPr id="9" name="Shape 7"/>
          <p:cNvSpPr/>
          <p:nvPr/>
        </p:nvSpPr>
        <p:spPr>
          <a:xfrm>
            <a:off x="7589520" y="1645920"/>
            <a:ext cx="3611880" cy="4389120"/>
          </a:xfrm>
          <a:prstGeom prst="roundRect">
            <a:avLst>
              <a:gd name="adj" fmla="val 354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1E2761">
                <a:alpha val="1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7818120" y="1920240"/>
            <a:ext cx="3154680" cy="1554480"/>
          </a:xfrm>
          <a:prstGeom prst="roundRect">
            <a:avLst>
              <a:gd name="adj" fmla="val 4706"/>
            </a:avLst>
          </a:prstGeom>
          <a:solidFill>
            <a:srgbClr val="E2E8F0"/>
          </a:solidFill>
          <a:ln/>
        </p:spPr>
      </p:sp>
      <p:sp>
        <p:nvSpPr>
          <p:cNvPr id="11" name="Text 9"/>
          <p:cNvSpPr/>
          <p:nvPr/>
        </p:nvSpPr>
        <p:spPr>
          <a:xfrm>
            <a:off x="7818120" y="1920240"/>
            <a:ext cx="315468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🍕</a:t>
            </a:r>
            <a:endParaRPr lang="en-US" sz="4000" dirty="0"/>
          </a:p>
        </p:txBody>
      </p:sp>
      <p:sp>
        <p:nvSpPr>
          <p:cNvPr id="12" name="Text 10"/>
          <p:cNvSpPr/>
          <p:nvPr/>
        </p:nvSpPr>
        <p:spPr>
          <a:xfrm>
            <a:off x="7818120" y="3657600"/>
            <a:ext cx="3154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Pizza de calabresa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7818120" y="4069080"/>
            <a:ext cx="3154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R$ 45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7818120" y="5120640"/>
            <a:ext cx="3154680" cy="502920"/>
          </a:xfrm>
          <a:prstGeom prst="roundRect">
            <a:avLst>
              <a:gd name="adj" fmla="val 10909"/>
            </a:avLst>
          </a:prstGeom>
          <a:solidFill>
            <a:srgbClr val="065A82"/>
          </a:solidFill>
          <a:ln/>
        </p:spPr>
      </p:sp>
      <p:sp>
        <p:nvSpPr>
          <p:cNvPr id="15" name="Text 13"/>
          <p:cNvSpPr/>
          <p:nvPr/>
        </p:nvSpPr>
        <p:spPr>
          <a:xfrm>
            <a:off x="7818120" y="5120640"/>
            <a:ext cx="3154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Adicionar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1551615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10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7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Atividade prática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114300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Crie um arquivo style.css e estilize sua página HTML contendo: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5303520" cy="77724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04672" y="1979676"/>
            <a:ext cx="201168" cy="201168"/>
          </a:xfrm>
          <a:prstGeom prst="rect">
            <a:avLst>
              <a:gd name="adj" fmla="val 13636"/>
            </a:avLst>
          </a:prstGeom>
          <a:solidFill>
            <a:srgbClr val="FFFFFF"/>
          </a:solidFill>
          <a:ln w="19050">
            <a:solidFill>
              <a:srgbClr val="264DE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43000" y="1691640"/>
            <a:ext cx="46177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Uma cor de fundo para o body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217920" y="1691640"/>
            <a:ext cx="5303520" cy="77724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382512" y="1979676"/>
            <a:ext cx="201168" cy="201168"/>
          </a:xfrm>
          <a:prstGeom prst="rect">
            <a:avLst>
              <a:gd name="adj" fmla="val 13636"/>
            </a:avLst>
          </a:prstGeom>
          <a:solidFill>
            <a:srgbClr val="FFFFFF"/>
          </a:solidFill>
          <a:ln w="19050">
            <a:solidFill>
              <a:srgbClr val="264DE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720840" y="1691640"/>
            <a:ext cx="46177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Uma fonte diferente da padrão (font-family)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40080" y="2606040"/>
            <a:ext cx="5303520" cy="77724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04672" y="2894076"/>
            <a:ext cx="201168" cy="201168"/>
          </a:xfrm>
          <a:prstGeom prst="rect">
            <a:avLst>
              <a:gd name="adj" fmla="val 13636"/>
            </a:avLst>
          </a:prstGeom>
          <a:solidFill>
            <a:srgbClr val="FFFFFF"/>
          </a:solidFill>
          <a:ln w="19050">
            <a:solidFill>
              <a:srgbClr val="264DE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143000" y="2606040"/>
            <a:ext cx="46177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Cores diferentes para títulos e textos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217920" y="2606040"/>
            <a:ext cx="5303520" cy="77724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382512" y="2894076"/>
            <a:ext cx="201168" cy="201168"/>
          </a:xfrm>
          <a:prstGeom prst="rect">
            <a:avLst>
              <a:gd name="adj" fmla="val 13636"/>
            </a:avLst>
          </a:prstGeom>
          <a:solidFill>
            <a:srgbClr val="FFFFFF"/>
          </a:solidFill>
          <a:ln w="19050">
            <a:solidFill>
              <a:srgbClr val="264DE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720840" y="2606040"/>
            <a:ext cx="46177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 botão estilizado (padding, border-radius, cor)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40080" y="3520440"/>
            <a:ext cx="5303520" cy="77724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04672" y="3808476"/>
            <a:ext cx="201168" cy="201168"/>
          </a:xfrm>
          <a:prstGeom prst="rect">
            <a:avLst>
              <a:gd name="adj" fmla="val 13636"/>
            </a:avLst>
          </a:prstGeom>
          <a:solidFill>
            <a:srgbClr val="FFFFFF"/>
          </a:solidFill>
          <a:ln w="19050">
            <a:solidFill>
              <a:srgbClr val="264DE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143000" y="3520440"/>
            <a:ext cx="46177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 efeito :hover no botão ou em algum link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217920" y="3520440"/>
            <a:ext cx="5303520" cy="77724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382512" y="3808476"/>
            <a:ext cx="201168" cy="201168"/>
          </a:xfrm>
          <a:prstGeom prst="rect">
            <a:avLst>
              <a:gd name="adj" fmla="val 13636"/>
            </a:avLst>
          </a:prstGeom>
          <a:solidFill>
            <a:srgbClr val="FFFFFF"/>
          </a:solidFill>
          <a:ln w="19050">
            <a:solidFill>
              <a:srgbClr val="264DE4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720840" y="3520440"/>
            <a:ext cx="46177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Uso de pelo menos 2 unidades diferentes (px, %, rem)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640080" y="4434840"/>
            <a:ext cx="5303520" cy="77724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804672" y="4722876"/>
            <a:ext cx="201168" cy="201168"/>
          </a:xfrm>
          <a:prstGeom prst="rect">
            <a:avLst>
              <a:gd name="adj" fmla="val 13636"/>
            </a:avLst>
          </a:prstGeom>
          <a:solidFill>
            <a:srgbClr val="FFFFFF"/>
          </a:solidFill>
          <a:ln w="19050">
            <a:solidFill>
              <a:srgbClr val="264DE4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143000" y="4434840"/>
            <a:ext cx="46177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Espaçamento entre elementos (margin/padding)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6217920" y="4434840"/>
            <a:ext cx="5303520" cy="77724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382512" y="4722876"/>
            <a:ext cx="201168" cy="201168"/>
          </a:xfrm>
          <a:prstGeom prst="rect">
            <a:avLst>
              <a:gd name="adj" fmla="val 13636"/>
            </a:avLst>
          </a:prstGeom>
          <a:solidFill>
            <a:srgbClr val="FFFFFF"/>
          </a:solidFill>
          <a:ln w="19050">
            <a:solidFill>
              <a:srgbClr val="264DE4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720840" y="4434840"/>
            <a:ext cx="46177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Uma imagem com border-radius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11551615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10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Checklist final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40080" y="1371600"/>
            <a:ext cx="5303520" cy="685800"/>
          </a:xfrm>
          <a:prstGeom prst="roundRect">
            <a:avLst>
              <a:gd name="adj" fmla="val 8000"/>
            </a:avLst>
          </a:prstGeom>
          <a:solidFill>
            <a:srgbClr val="F7F9FB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04672" y="1604772"/>
            <a:ext cx="219456" cy="219456"/>
          </a:xfrm>
          <a:prstGeom prst="rect">
            <a:avLst>
              <a:gd name="adj" fmla="val 16667"/>
            </a:avLst>
          </a:prstGeom>
          <a:solidFill>
            <a:srgbClr val="FFFFFF"/>
          </a:solidFill>
          <a:ln w="19050">
            <a:solidFill>
              <a:srgbClr val="264DE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586484"/>
            <a:ext cx="274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64D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143000" y="1371600"/>
            <a:ext cx="46177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2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Criei style.css e conectei ao HTML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217920" y="1371600"/>
            <a:ext cx="5303520" cy="685800"/>
          </a:xfrm>
          <a:prstGeom prst="roundRect">
            <a:avLst>
              <a:gd name="adj" fmla="val 8000"/>
            </a:avLst>
          </a:prstGeom>
          <a:solidFill>
            <a:srgbClr val="F7F9FB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382512" y="1604772"/>
            <a:ext cx="219456" cy="219456"/>
          </a:xfrm>
          <a:prstGeom prst="rect">
            <a:avLst>
              <a:gd name="adj" fmla="val 16667"/>
            </a:avLst>
          </a:prstGeom>
          <a:solidFill>
            <a:srgbClr val="FFFFFF"/>
          </a:solidFill>
          <a:ln w="19050">
            <a:solidFill>
              <a:srgbClr val="264DE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355080" y="1586484"/>
            <a:ext cx="274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64D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720840" y="1371600"/>
            <a:ext cx="46177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2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Usei seletores de classe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640080" y="2194560"/>
            <a:ext cx="5303520" cy="685800"/>
          </a:xfrm>
          <a:prstGeom prst="roundRect">
            <a:avLst>
              <a:gd name="adj" fmla="val 8000"/>
            </a:avLst>
          </a:prstGeom>
          <a:solidFill>
            <a:srgbClr val="F7F9FB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04672" y="2427732"/>
            <a:ext cx="219456" cy="219456"/>
          </a:xfrm>
          <a:prstGeom prst="rect">
            <a:avLst>
              <a:gd name="adj" fmla="val 16667"/>
            </a:avLst>
          </a:prstGeom>
          <a:solidFill>
            <a:srgbClr val="FFFFFF"/>
          </a:solidFill>
          <a:ln w="19050">
            <a:solidFill>
              <a:srgbClr val="264DE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77240" y="2409444"/>
            <a:ext cx="274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64D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143000" y="2194560"/>
            <a:ext cx="46177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2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Apliquei cores (fundo e texto)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6217920" y="2194560"/>
            <a:ext cx="5303520" cy="685800"/>
          </a:xfrm>
          <a:prstGeom prst="roundRect">
            <a:avLst>
              <a:gd name="adj" fmla="val 8000"/>
            </a:avLst>
          </a:prstGeom>
          <a:solidFill>
            <a:srgbClr val="F7F9FB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382512" y="2427732"/>
            <a:ext cx="219456" cy="219456"/>
          </a:xfrm>
          <a:prstGeom prst="rect">
            <a:avLst>
              <a:gd name="adj" fmla="val 16667"/>
            </a:avLst>
          </a:prstGeom>
          <a:solidFill>
            <a:srgbClr val="FFFFFF"/>
          </a:solidFill>
          <a:ln w="19050">
            <a:solidFill>
              <a:srgbClr val="264DE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355080" y="2409444"/>
            <a:ext cx="274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64D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720840" y="2194560"/>
            <a:ext cx="46177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2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 fontes e tamanhos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40080" y="3017520"/>
            <a:ext cx="5303520" cy="685800"/>
          </a:xfrm>
          <a:prstGeom prst="roundRect">
            <a:avLst>
              <a:gd name="adj" fmla="val 8000"/>
            </a:avLst>
          </a:prstGeom>
          <a:solidFill>
            <a:srgbClr val="F7F9FB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04672" y="3250692"/>
            <a:ext cx="219456" cy="219456"/>
          </a:xfrm>
          <a:prstGeom prst="rect">
            <a:avLst>
              <a:gd name="adj" fmla="val 16667"/>
            </a:avLst>
          </a:prstGeom>
          <a:solidFill>
            <a:srgbClr val="FFFFFF"/>
          </a:solidFill>
          <a:ln w="19050">
            <a:solidFill>
              <a:srgbClr val="264DE4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77240" y="3232404"/>
            <a:ext cx="274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64D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143000" y="3017520"/>
            <a:ext cx="46177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2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Usei o box model (padding/margin)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6217920" y="3017520"/>
            <a:ext cx="5303520" cy="685800"/>
          </a:xfrm>
          <a:prstGeom prst="roundRect">
            <a:avLst>
              <a:gd name="adj" fmla="val 8000"/>
            </a:avLst>
          </a:prstGeom>
          <a:solidFill>
            <a:srgbClr val="F7F9FB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382512" y="3250692"/>
            <a:ext cx="219456" cy="219456"/>
          </a:xfrm>
          <a:prstGeom prst="rect">
            <a:avLst>
              <a:gd name="adj" fmla="val 16667"/>
            </a:avLst>
          </a:prstGeom>
          <a:solidFill>
            <a:srgbClr val="FFFFFF"/>
          </a:solidFill>
          <a:ln w="19050">
            <a:solidFill>
              <a:srgbClr val="264DE4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355080" y="3232404"/>
            <a:ext cx="274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64D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6720840" y="3017520"/>
            <a:ext cx="46177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2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Arredondei cantos com border-radius</a:t>
            </a:r>
            <a:endParaRPr lang="en-US" sz="1250" dirty="0"/>
          </a:p>
        </p:txBody>
      </p:sp>
      <p:sp>
        <p:nvSpPr>
          <p:cNvPr id="27" name="Shape 25"/>
          <p:cNvSpPr/>
          <p:nvPr/>
        </p:nvSpPr>
        <p:spPr>
          <a:xfrm>
            <a:off x="640080" y="3840480"/>
            <a:ext cx="5303520" cy="685800"/>
          </a:xfrm>
          <a:prstGeom prst="roundRect">
            <a:avLst>
              <a:gd name="adj" fmla="val 8000"/>
            </a:avLst>
          </a:prstGeom>
          <a:solidFill>
            <a:srgbClr val="F7F9FB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04672" y="4073652"/>
            <a:ext cx="219456" cy="219456"/>
          </a:xfrm>
          <a:prstGeom prst="rect">
            <a:avLst>
              <a:gd name="adj" fmla="val 16667"/>
            </a:avLst>
          </a:prstGeom>
          <a:solidFill>
            <a:srgbClr val="FFFFFF"/>
          </a:solidFill>
          <a:ln w="19050">
            <a:solidFill>
              <a:srgbClr val="264DE4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77240" y="4055364"/>
            <a:ext cx="274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64D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1143000" y="3840480"/>
            <a:ext cx="46177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2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Adicionei um efeito :hover</a:t>
            </a:r>
            <a:endParaRPr lang="en-US" sz="1250" dirty="0"/>
          </a:p>
        </p:txBody>
      </p:sp>
      <p:sp>
        <p:nvSpPr>
          <p:cNvPr id="31" name="Shape 29"/>
          <p:cNvSpPr/>
          <p:nvPr/>
        </p:nvSpPr>
        <p:spPr>
          <a:xfrm>
            <a:off x="6217920" y="3840480"/>
            <a:ext cx="5303520" cy="685800"/>
          </a:xfrm>
          <a:prstGeom prst="roundRect">
            <a:avLst>
              <a:gd name="adj" fmla="val 8000"/>
            </a:avLst>
          </a:prstGeom>
          <a:solidFill>
            <a:srgbClr val="F7F9FB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6382512" y="4073652"/>
            <a:ext cx="219456" cy="219456"/>
          </a:xfrm>
          <a:prstGeom prst="rect">
            <a:avLst>
              <a:gd name="adj" fmla="val 16667"/>
            </a:avLst>
          </a:prstGeom>
          <a:solidFill>
            <a:srgbClr val="FFFFFF"/>
          </a:solidFill>
          <a:ln w="19050">
            <a:solidFill>
              <a:srgbClr val="264DE4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355080" y="4055364"/>
            <a:ext cx="274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64D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6720840" y="3840480"/>
            <a:ext cx="46177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2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Testei a página no navegador</a:t>
            </a:r>
            <a:endParaRPr lang="en-US" sz="1250" dirty="0"/>
          </a:p>
        </p:txBody>
      </p:sp>
      <p:sp>
        <p:nvSpPr>
          <p:cNvPr id="35" name="Text 33"/>
          <p:cNvSpPr/>
          <p:nvPr/>
        </p:nvSpPr>
        <p:spPr>
          <a:xfrm>
            <a:off x="11551615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10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097280" y="4572000"/>
            <a:ext cx="3657600" cy="3657600"/>
          </a:xfrm>
          <a:prstGeom prst="ellipse">
            <a:avLst/>
          </a:prstGeom>
          <a:solidFill>
            <a:srgbClr val="264DE4">
              <a:alpha val="38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54864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aprendemos hoje?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591056"/>
            <a:ext cx="256032" cy="256032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591056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005840" y="1554480"/>
            <a:ext cx="5029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é CSS e como aplicá-lo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172200" y="1591056"/>
            <a:ext cx="256032" cy="256032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8" name="Text 6"/>
          <p:cNvSpPr/>
          <p:nvPr/>
        </p:nvSpPr>
        <p:spPr>
          <a:xfrm>
            <a:off x="6172200" y="1591056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537960" y="1554480"/>
            <a:ext cx="5029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Sintaxe e seletores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40080" y="2212848"/>
            <a:ext cx="256032" cy="256032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" y="2212848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005840" y="2176272"/>
            <a:ext cx="5029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Cores e unidades de medida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172200" y="2212848"/>
            <a:ext cx="256032" cy="256032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4" name="Text 12"/>
          <p:cNvSpPr/>
          <p:nvPr/>
        </p:nvSpPr>
        <p:spPr>
          <a:xfrm>
            <a:off x="6172200" y="2212848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537960" y="2176272"/>
            <a:ext cx="5029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Fontes e texto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40080" y="2834640"/>
            <a:ext cx="256032" cy="256032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7" name="Text 15"/>
          <p:cNvSpPr/>
          <p:nvPr/>
        </p:nvSpPr>
        <p:spPr>
          <a:xfrm>
            <a:off x="640080" y="2834640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005840" y="2798064"/>
            <a:ext cx="5029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Box model (margin, border, padding)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6172200" y="2834640"/>
            <a:ext cx="256032" cy="256032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0" name="Text 18"/>
          <p:cNvSpPr/>
          <p:nvPr/>
        </p:nvSpPr>
        <p:spPr>
          <a:xfrm>
            <a:off x="6172200" y="2834640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537960" y="2798064"/>
            <a:ext cx="5029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Display, background e bordas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640080" y="3456432"/>
            <a:ext cx="256032" cy="256032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3" name="Text 21"/>
          <p:cNvSpPr/>
          <p:nvPr/>
        </p:nvSpPr>
        <p:spPr>
          <a:xfrm>
            <a:off x="640080" y="3456432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1005840" y="3419856"/>
            <a:ext cx="5029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Especificidade e cascata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6172200" y="3456432"/>
            <a:ext cx="256032" cy="256032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6" name="Text 24"/>
          <p:cNvSpPr/>
          <p:nvPr/>
        </p:nvSpPr>
        <p:spPr>
          <a:xfrm>
            <a:off x="6172200" y="3456432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6537960" y="3419856"/>
            <a:ext cx="5029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Pseudo-classes e boas práticas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640080" y="4480560"/>
            <a:ext cx="10881360" cy="1371600"/>
          </a:xfrm>
          <a:prstGeom prst="roundRect">
            <a:avLst>
              <a:gd name="adj" fmla="val 6667"/>
            </a:avLst>
          </a:prstGeom>
          <a:solidFill>
            <a:srgbClr val="264DE4"/>
          </a:solidFill>
          <a:ln/>
        </p:spPr>
      </p:sp>
      <p:sp>
        <p:nvSpPr>
          <p:cNvPr id="29" name="Text 27"/>
          <p:cNvSpPr/>
          <p:nvPr/>
        </p:nvSpPr>
        <p:spPr>
          <a:xfrm>
            <a:off x="1005840" y="4480560"/>
            <a:ext cx="101498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HTML dá a estrutura. CSS dá a personalidade. Juntos, transformam uma página comum em uma experiência visual.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11551615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23</Slides>
  <Notes>23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2026-08-31T19:27:57Z</dcterms:created>
  <dcterms:modified xsi:type="dcterms:W3CDTF">2026-08-31T19:27:57Z</dcterms:modified>
</cp:coreProperties>
</file>