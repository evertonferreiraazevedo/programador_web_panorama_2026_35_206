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E44D26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389120"/>
            <a:ext cx="2743200" cy="27432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TEMÁTICA · HTML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9875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— a estrutura da Web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é, características principais, tags e forma de uso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3840480"/>
            <a:ext cx="1508760" cy="1508760"/>
          </a:xfrm>
          <a:prstGeom prst="roundRect">
            <a:avLst>
              <a:gd name="adj" fmla="val 7273"/>
            </a:avLst>
          </a:prstGeom>
          <a:solidFill>
            <a:srgbClr val="E44D2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840480"/>
            <a:ext cx="15087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&lt;/&gt;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HTML?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280160"/>
            <a:ext cx="10241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4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</a:t>
            </a:r>
            <a:pPr indent="0" marL="0">
              <a:buNone/>
            </a:pPr>
            <a:r>
              <a:rPr lang="en-US" sz="16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(HyperText Markup Language) é a linguagem de marcação utilizada para estruturar o conteúdo de páginas Web — títulos, textos, imagens, links, listas e muito mais.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9260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 Text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3383280"/>
            <a:ext cx="3063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com links que conectam páginas entre si.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27432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29260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Markup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0" y="3383280"/>
            <a:ext cx="3063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Marcação: usamos tags para descrever o conteúdo.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46720" y="27432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9260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75320" y="3383280"/>
            <a:ext cx="3063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linguagem com regras próprias de escrita.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93776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44D26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937760"/>
            <a:ext cx="10241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responde à pergunta: "O que existe na página?"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Características principais do HTML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91440" cy="1417320"/>
          </a:xfrm>
          <a:prstGeom prst="rect">
            <a:avLst/>
          </a:prstGeom>
          <a:solidFill>
            <a:srgbClr val="E44D26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417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de marcação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847088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uma linguagem de programação; não executa lógica.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28016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0" y="1280160"/>
            <a:ext cx="91440" cy="1417320"/>
          </a:xfrm>
          <a:prstGeom prst="rect">
            <a:avLst/>
          </a:prstGeom>
          <a:solidFill>
            <a:srgbClr val="E44D26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417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Baseado em tags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37960" y="1847088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conteúdo é descrito por meio de elementos/tags.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92608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926080"/>
            <a:ext cx="91440" cy="1417320"/>
          </a:xfrm>
          <a:prstGeom prst="rect">
            <a:avLst/>
          </a:prstGeom>
          <a:solidFill>
            <a:srgbClr val="E44D26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0632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hierárquica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3493008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Elementos podem conter outros elementos (aninhamento).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292608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2926080"/>
            <a:ext cx="91440" cy="1417320"/>
          </a:xfrm>
          <a:prstGeom prst="rect">
            <a:avLst/>
          </a:prstGeom>
          <a:solidFill>
            <a:srgbClr val="E44D26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30632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Interpretado pelo navegador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37960" y="3493008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navegador lê o HTML e renderiza a página.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57200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572000"/>
            <a:ext cx="91440" cy="1417320"/>
          </a:xfrm>
          <a:prstGeom prst="rect">
            <a:avLst/>
          </a:prstGeom>
          <a:solidFill>
            <a:srgbClr val="E44D26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47091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Case-insensitive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5138928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funcionam em maiúsculas ou minúsculas (usa-se minúsculo).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457200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4572000"/>
            <a:ext cx="91440" cy="1417320"/>
          </a:xfrm>
          <a:prstGeom prst="rect">
            <a:avLst/>
          </a:prstGeom>
          <a:solidFill>
            <a:srgbClr val="E44D26"/>
          </a:solidFill>
          <a:ln/>
        </p:spPr>
      </p:sp>
      <p:sp>
        <p:nvSpPr>
          <p:cNvPr id="25" name="Text 23"/>
          <p:cNvSpPr/>
          <p:nvPr/>
        </p:nvSpPr>
        <p:spPr>
          <a:xfrm>
            <a:off x="6537960" y="47091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aberto (W3C)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37960" y="5138928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Segue especificações mantidas pelo W3C/WHATWG.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Anatomia de uma tag HTML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463040" y="1554480"/>
            <a:ext cx="9235440" cy="1188720"/>
          </a:xfrm>
          <a:prstGeom prst="roundRect">
            <a:avLst>
              <a:gd name="adj" fmla="val 6154"/>
            </a:avLst>
          </a:prstGeom>
          <a:solidFill>
            <a:srgbClr val="12172E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0" y="171907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1847088" y="171907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2048256" y="171907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1737360" y="201168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</a:t>
            </a:r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</a:t>
            </a:r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"https://site.com"</a:t>
            </a:r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Clique aqui</a:t>
            </a:r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" y="329184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2E3A6E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4290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&lt;a&gt;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3840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de abertura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34840" y="329184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2E3A6E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34290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17720" y="3840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92440" y="329184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2E3A6E"/>
          </a:solidFill>
          <a:ln/>
        </p:spPr>
      </p:sp>
      <p:sp>
        <p:nvSpPr>
          <p:cNvPr id="15" name="Text 13"/>
          <p:cNvSpPr/>
          <p:nvPr/>
        </p:nvSpPr>
        <p:spPr>
          <a:xfrm>
            <a:off x="8275320" y="34290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"https://..."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75320" y="3840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do atributo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466344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2E3A6E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4800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Clique aqui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52120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34840" y="466344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2E3A6E"/>
          </a:solidFill>
          <a:ln/>
        </p:spPr>
      </p:sp>
      <p:sp>
        <p:nvSpPr>
          <p:cNvPr id="21" name="Text 19"/>
          <p:cNvSpPr/>
          <p:nvPr/>
        </p:nvSpPr>
        <p:spPr>
          <a:xfrm>
            <a:off x="4617720" y="4800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17720" y="52120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de fechamento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Tags com conteúdo x tags vazias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525780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5257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com abertura e fechamento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914400" y="2148840"/>
            <a:ext cx="4709160" cy="3429000"/>
          </a:xfrm>
          <a:prstGeom prst="roundRect">
            <a:avLst>
              <a:gd name="adj" fmla="val 2133"/>
            </a:avLst>
          </a:prstGeom>
          <a:solidFill>
            <a:srgbClr val="12172E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231343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1298448" y="231343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499616" y="231343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2606040"/>
            <a:ext cx="41605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Um parágrafo.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Título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Conteúdo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&lt;button&gt;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28016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280160"/>
            <a:ext cx="5257800" cy="6858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1280160"/>
            <a:ext cx="5257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vazias (self-closing)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537960" y="2148840"/>
            <a:ext cx="4709160" cy="3429000"/>
          </a:xfrm>
          <a:prstGeom prst="roundRect">
            <a:avLst>
              <a:gd name="adj" fmla="val 2133"/>
            </a:avLst>
          </a:prstGeom>
          <a:solidFill>
            <a:srgbClr val="12172E"/>
          </a:solidFill>
          <a:ln/>
        </p:spPr>
      </p:sp>
      <p:sp>
        <p:nvSpPr>
          <p:cNvPr id="15" name="Shape 13"/>
          <p:cNvSpPr/>
          <p:nvPr/>
        </p:nvSpPr>
        <p:spPr>
          <a:xfrm>
            <a:off x="6720840" y="231343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6" name="Shape 14"/>
          <p:cNvSpPr/>
          <p:nvPr/>
        </p:nvSpPr>
        <p:spPr>
          <a:xfrm>
            <a:off x="6922008" y="231343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7" name="Shape 15"/>
          <p:cNvSpPr/>
          <p:nvPr/>
        </p:nvSpPr>
        <p:spPr>
          <a:xfrm>
            <a:off x="7123176" y="231343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8" name="Text 16"/>
          <p:cNvSpPr/>
          <p:nvPr/>
        </p:nvSpPr>
        <p:spPr>
          <a:xfrm>
            <a:off x="6812280" y="2606040"/>
            <a:ext cx="41605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src="foto.jpg"&gt;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&lt;br&gt;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&lt;hr&gt;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type="text"&gt;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&lt;meta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charset="UTF-8"&gt;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 básica de um documento HTML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6035040" cy="4846320"/>
          </a:xfrm>
          <a:prstGeom prst="roundRect">
            <a:avLst>
              <a:gd name="adj" fmla="val 1509"/>
            </a:avLst>
          </a:prstGeom>
          <a:solidFill>
            <a:srgbClr val="12172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53619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1024128" y="153619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1225296" y="153619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28800"/>
            <a:ext cx="548640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lang="pt-br"&gt;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&lt;meta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charset="UTF-8"&gt;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&lt;title&gt;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Minha página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&lt;/title&gt;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&lt;h1&gt;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Olá, mundo!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&lt;p&gt;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Conteúdo aqui.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903720" y="1463040"/>
            <a:ext cx="4617720" cy="1051560"/>
          </a:xfrm>
          <a:prstGeom prst="roundRect">
            <a:avLst>
              <a:gd name="adj" fmla="val 6957"/>
            </a:avLst>
          </a:prstGeom>
          <a:solidFill>
            <a:srgbClr val="2E3A6E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0" y="157276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132320" y="196596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 a versão do HTML (HTML5).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903720" y="2670048"/>
            <a:ext cx="4617720" cy="1051560"/>
          </a:xfrm>
          <a:prstGeom prst="roundRect">
            <a:avLst>
              <a:gd name="adj" fmla="val 6957"/>
            </a:avLst>
          </a:prstGeom>
          <a:solidFill>
            <a:srgbClr val="2E3A6E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0" y="277977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132320" y="317296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 raiz de todo o documento.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903720" y="3877056"/>
            <a:ext cx="4617720" cy="1051560"/>
          </a:xfrm>
          <a:prstGeom prst="roundRect">
            <a:avLst>
              <a:gd name="adj" fmla="val 6957"/>
            </a:avLst>
          </a:prstGeom>
          <a:solidFill>
            <a:srgbClr val="2E3A6E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0" y="398678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132320" y="4379976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Metadados: título, charset, links, scripts.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903720" y="5084064"/>
            <a:ext cx="4617720" cy="1051560"/>
          </a:xfrm>
          <a:prstGeom prst="roundRect">
            <a:avLst>
              <a:gd name="adj" fmla="val 6957"/>
            </a:avLst>
          </a:prstGeom>
          <a:solidFill>
            <a:srgbClr val="2E3A6E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0" y="519379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132320" y="5586984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o conteúdo visível da página.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tag &lt;head&gt;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Contém informações sobre a página que não aparecem diretamente no conteúdo visível.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12172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019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19019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25296" y="19019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94560"/>
            <a:ext cx="46634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&lt;meta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charset="UTF-8"&gt;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&lt;meta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name="viewport"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content="width=device-width"&gt;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&lt;title&gt;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Minha empresa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&lt;/title&gt;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&lt;link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rel="stylesheet"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href="style.css"&gt;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&lt;script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src="script.js"&gt;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&lt;/script&gt;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1737360"/>
            <a:ext cx="54406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181051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&lt;title&gt;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138160" y="181051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 título exibido na aba do navegador.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2514600"/>
            <a:ext cx="54406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58775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&lt;meta charset&gt;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138160" y="258775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codificação de caracteres (acentos, ç etc.).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26480" y="3291840"/>
            <a:ext cx="54406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336499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&lt;meta viewport&gt;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138160" y="336499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 a exibição em dispositivos móveis.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26480" y="4069080"/>
            <a:ext cx="54406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414223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&lt;link&gt;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138160" y="414223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arquivos externos, como o CSS.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26480" y="4846320"/>
            <a:ext cx="54406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491947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138160" y="491947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ou insere código JavaScript.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tag &lt;body&gt;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onde fica todo o conteúdo que aparece visivelmente na página: textos, imagens, links, botões etc.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669280" cy="4023360"/>
          </a:xfrm>
          <a:prstGeom prst="roundRect">
            <a:avLst>
              <a:gd name="adj" fmla="val 1818"/>
            </a:avLst>
          </a:prstGeom>
          <a:solidFill>
            <a:srgbClr val="12172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019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19019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25296" y="19019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94560"/>
            <a:ext cx="51206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&lt;h1&gt;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Pizzaria Sabor &amp; Massa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melhor pizza da cidade.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&lt;img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src="pizza.jpg"&gt;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&lt;button&gt;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Fazer pedido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37960" y="1737360"/>
            <a:ext cx="5029200" cy="4023360"/>
          </a:xfrm>
          <a:prstGeom prst="roundRect">
            <a:avLst>
              <a:gd name="adj" fmla="val 2273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12280" y="19202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simples: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12280" y="233172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usuário consegue ver, ler ou clicar em algo, esse conteúdo está dentro do &lt;body&gt;.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12280" y="3383280"/>
            <a:ext cx="4480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3566160"/>
            <a:ext cx="4023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&lt;head&gt; não aparece na tela.</a:t>
            </a:r>
            <a:endParaRPr lang="en-US" sz="1500" dirty="0"/>
          </a:p>
          <a:p>
            <a:pPr indent="0" marL="0">
              <a:buNone/>
            </a:pPr>
            <a:r>
              <a:rPr lang="en-US" sz="1500" b="1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&lt;body&gt; é tudo que aparece na tela.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Tags de texto e títulos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257800" cy="3063240"/>
          </a:xfrm>
          <a:prstGeom prst="roundRect">
            <a:avLst>
              <a:gd name="adj" fmla="val 2388"/>
            </a:avLst>
          </a:prstGeom>
          <a:solidFill>
            <a:srgbClr val="12172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4447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1024128" y="14447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1225296" y="14447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37360"/>
            <a:ext cx="47091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Título principal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&lt;h2&gt;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Subtítulo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&lt;/h2&gt;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&lt;h3&gt;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Título menor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&lt;/h3&gt;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Um parágrafo de texto.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 um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&lt;br&gt;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 dois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&lt;hr&gt;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280160"/>
            <a:ext cx="5257800" cy="3063240"/>
          </a:xfrm>
          <a:prstGeom prst="roundRect">
            <a:avLst>
              <a:gd name="adj" fmla="val 2388"/>
            </a:avLst>
          </a:prstGeom>
          <a:solidFill>
            <a:srgbClr val="12172E"/>
          </a:solidFill>
          <a:ln/>
        </p:spPr>
      </p:sp>
      <p:sp>
        <p:nvSpPr>
          <p:cNvPr id="9" name="Shape 7"/>
          <p:cNvSpPr/>
          <p:nvPr/>
        </p:nvSpPr>
        <p:spPr>
          <a:xfrm>
            <a:off x="6446520" y="14447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8"/>
          <p:cNvSpPr/>
          <p:nvPr/>
        </p:nvSpPr>
        <p:spPr>
          <a:xfrm>
            <a:off x="6647688" y="14447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9"/>
          <p:cNvSpPr/>
          <p:nvPr/>
        </p:nvSpPr>
        <p:spPr>
          <a:xfrm>
            <a:off x="6848856" y="14447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1737360"/>
            <a:ext cx="47091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&lt;strong&gt;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texto em negrito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&lt;/strong&gt;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&lt;em&gt;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texto em itálico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&lt;/em&gt;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&lt;span&gt;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trecho de texto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&lt;/span&gt;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526280"/>
            <a:ext cx="35204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58114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h1–h6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484632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Hierarquia de títulos (h1 = mais importante).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97680" y="4526280"/>
            <a:ext cx="35204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458114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34840" y="484632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Parágrafo de texto.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955280" y="4526280"/>
            <a:ext cx="35204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92440" y="458114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 / hr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92440" y="484632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Quebra de linha / linha divisória.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5303520"/>
            <a:ext cx="35204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35838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strong / em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562356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Ênfase (negrito) e destaque (itálico).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97680" y="5303520"/>
            <a:ext cx="35204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34840" y="535838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434840" y="562356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Trecho de texto sem quebra de linha.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não ordenada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12080" cy="2194560"/>
          </a:xfrm>
          <a:prstGeom prst="roundRect">
            <a:avLst>
              <a:gd name="adj" fmla="val 3333"/>
            </a:avLst>
          </a:prstGeom>
          <a:solidFill>
            <a:srgbClr val="12172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1051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181051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25296" y="181051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03120"/>
            <a:ext cx="46634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&lt;ul&gt;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&lt;/li&gt;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&lt;/li&gt;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JavaScript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&lt;/li&gt;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&lt;/ul&gt;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ordenada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1645920"/>
            <a:ext cx="5212080" cy="2194560"/>
          </a:xfrm>
          <a:prstGeom prst="roundRect">
            <a:avLst>
              <a:gd name="adj" fmla="val 3333"/>
            </a:avLst>
          </a:prstGeom>
          <a:solidFill>
            <a:srgbClr val="12172E"/>
          </a:solidFill>
          <a:ln/>
        </p:spPr>
      </p:sp>
      <p:sp>
        <p:nvSpPr>
          <p:cNvPr id="11" name="Shape 9"/>
          <p:cNvSpPr/>
          <p:nvPr/>
        </p:nvSpPr>
        <p:spPr>
          <a:xfrm>
            <a:off x="6446520" y="181051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2" name="Shape 10"/>
          <p:cNvSpPr/>
          <p:nvPr/>
        </p:nvSpPr>
        <p:spPr>
          <a:xfrm>
            <a:off x="6647688" y="181051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3" name="Shape 11"/>
          <p:cNvSpPr/>
          <p:nvPr/>
        </p:nvSpPr>
        <p:spPr>
          <a:xfrm>
            <a:off x="6848856" y="181051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2103120"/>
            <a:ext cx="46634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&lt;ol&gt;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Planejamento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&lt;/li&gt;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Desenvolvimento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&lt;/li&gt;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Testes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&lt;/li&gt;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&lt;/ol&gt;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10881360" cy="1691640"/>
          </a:xfrm>
          <a:prstGeom prst="roundRect">
            <a:avLst>
              <a:gd name="adj" fmla="val 5405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2976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920240" y="429768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Unordered list — lista com marcadores (bullets).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4754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920240" y="475488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list — lista numerada.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52120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920240" y="521208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item — cada item da lista, dentro de ul ou ol.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tag &lt;a&gt; (anchor) cria links para outras páginas, seções ou arquivos.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669280" cy="2743200"/>
          </a:xfrm>
          <a:prstGeom prst="roundRect">
            <a:avLst>
              <a:gd name="adj" fmla="val 2667"/>
            </a:avLst>
          </a:prstGeom>
          <a:solidFill>
            <a:srgbClr val="12172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019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19019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25296" y="19019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94560"/>
            <a:ext cx="512064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href="https://google.com"&gt;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Google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href="pagina2.html"&gt;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Ir para a página 2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href="https://site.com" target="_blank"&gt;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Abrir em nova aba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537960" y="1737360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0" y="1828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766560" y="2148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Endereço de destino do link (URL, arquivo, âncora).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537960" y="2651760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2743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target="_blank"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766560" y="3063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o link em uma nova aba/janela.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37960" y="3566160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3657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#âncora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766560" y="3977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para uma seção dentro da mesma página.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Imagens e mídia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257800" cy="2377440"/>
          </a:xfrm>
          <a:prstGeom prst="roundRect">
            <a:avLst>
              <a:gd name="adj" fmla="val 3077"/>
            </a:avLst>
          </a:prstGeom>
          <a:solidFill>
            <a:srgbClr val="12172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4447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1024128" y="14447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1225296" y="14447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37360"/>
            <a:ext cx="47091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src="pizza.jpg"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alt="Pizza de calabresa"&gt;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&lt;video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controls&gt;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&lt;source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src="video.mp4"&gt;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&lt;/video&gt;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280160"/>
            <a:ext cx="5257800" cy="2377440"/>
          </a:xfrm>
          <a:prstGeom prst="roundRect">
            <a:avLst>
              <a:gd name="adj" fmla="val 3846"/>
            </a:avLst>
          </a:prstGeom>
          <a:solidFill>
            <a:srgbClr val="E44D26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46304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ao atributo alt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537960" y="187452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Descreve a imagem em texto. É essencial para: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37960" y="224028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Acessibilidade (leitores de tela)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37960" y="262432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SEO (buscadores)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37960" y="3008376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Quando a imagem não carrega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886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tags de mídia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43434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526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&lt;img&gt;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2960" y="49377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Insere uma imagem.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383280" y="43434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4526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&lt;video&gt;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566160" y="49377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Insere um vídeo com controles.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26480" y="43434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4526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&lt;audio&gt;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309360" y="49377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Insere um áudio.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869680" y="43434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52560" y="4526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&lt;source&gt;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052560" y="49377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origem do arquivo de mídia.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Utilizadas para organizar dados em linhas e colunas.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852160" cy="4023360"/>
          </a:xfrm>
          <a:prstGeom prst="roundRect">
            <a:avLst>
              <a:gd name="adj" fmla="val 1818"/>
            </a:avLst>
          </a:prstGeom>
          <a:solidFill>
            <a:srgbClr val="12172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5623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185623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25296" y="185623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48840"/>
            <a:ext cx="53035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&lt;tr&gt;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&lt;th&gt;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Produto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&lt;/th&gt;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&lt;th&gt;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Preço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&lt;/th&gt;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&lt;/tr&gt;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&lt;tr&gt;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&lt;td&gt;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Pizza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&lt;/td&gt;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&lt;td&gt;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R$ 45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&lt;/td&gt;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&lt;/tr&gt;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&lt;/table&gt;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766560" y="1691640"/>
            <a:ext cx="4800600" cy="777240"/>
          </a:xfrm>
          <a:prstGeom prst="roundRect">
            <a:avLst>
              <a:gd name="adj" fmla="val 7059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95160" y="17830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412480" y="17830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a tabela.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66560" y="2606040"/>
            <a:ext cx="4800600" cy="777240"/>
          </a:xfrm>
          <a:prstGeom prst="roundRect">
            <a:avLst>
              <a:gd name="adj" fmla="val 7059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6974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412480" y="26974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row — uma linha.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66560" y="3520440"/>
            <a:ext cx="4800600" cy="777240"/>
          </a:xfrm>
          <a:prstGeom prst="roundRect">
            <a:avLst>
              <a:gd name="adj" fmla="val 7059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95160" y="36118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412480" y="36118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header — célula de cabeçalho.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66560" y="4434840"/>
            <a:ext cx="4800600" cy="777240"/>
          </a:xfrm>
          <a:prstGeom prst="roundRect">
            <a:avLst>
              <a:gd name="adj" fmla="val 7059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95160" y="45262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td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412480" y="45262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data — célula de dado.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66560" y="5349240"/>
            <a:ext cx="480060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903720" y="53492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thead e tbody organizam cabeçalho e corpo.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Formulários — a tag &lt;form&gt;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Utilizados para coletar informações do usuário (contato, cadastro, login etc.).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669280" cy="4023360"/>
          </a:xfrm>
          <a:prstGeom prst="roundRect">
            <a:avLst>
              <a:gd name="adj" fmla="val 1818"/>
            </a:avLst>
          </a:prstGeom>
          <a:solidFill>
            <a:srgbClr val="12172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5623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185623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25296" y="185623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48840"/>
            <a:ext cx="51206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&lt;label&gt;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Nome: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&lt;/label&gt;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type="text"&gt;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&lt;label&gt;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E-mail: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&lt;/label&gt;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type="email"&gt;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type="submit"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value="Enviar"&gt;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37960" y="1691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tipos de &lt;input&gt;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537960" y="2148840"/>
            <a:ext cx="1554480" cy="438912"/>
          </a:xfrm>
          <a:prstGeom prst="roundRect">
            <a:avLst>
              <a:gd name="adj" fmla="val 12500"/>
            </a:avLst>
          </a:prstGeom>
          <a:solidFill>
            <a:srgbClr val="2E3A6E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14884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0" y="2148840"/>
            <a:ext cx="1554480" cy="438912"/>
          </a:xfrm>
          <a:prstGeom prst="roundRect">
            <a:avLst>
              <a:gd name="adj" fmla="val 12500"/>
            </a:avLst>
          </a:prstGeom>
          <a:solidFill>
            <a:srgbClr val="2E3A6E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0" y="214884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921240" y="2148840"/>
            <a:ext cx="1554480" cy="438912"/>
          </a:xfrm>
          <a:prstGeom prst="roundRect">
            <a:avLst>
              <a:gd name="adj" fmla="val 12500"/>
            </a:avLst>
          </a:prstGeom>
          <a:solidFill>
            <a:srgbClr val="2E3A6E"/>
          </a:solidFill>
          <a:ln/>
        </p:spPr>
      </p:sp>
      <p:sp>
        <p:nvSpPr>
          <p:cNvPr id="15" name="Text 13"/>
          <p:cNvSpPr/>
          <p:nvPr/>
        </p:nvSpPr>
        <p:spPr>
          <a:xfrm>
            <a:off x="9921240" y="214884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37960" y="2715768"/>
            <a:ext cx="1554480" cy="438912"/>
          </a:xfrm>
          <a:prstGeom prst="roundRect">
            <a:avLst>
              <a:gd name="adj" fmla="val 12500"/>
            </a:avLst>
          </a:prstGeom>
          <a:solidFill>
            <a:srgbClr val="2E3A6E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2715768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29600" y="2715768"/>
            <a:ext cx="1554480" cy="438912"/>
          </a:xfrm>
          <a:prstGeom prst="roundRect">
            <a:avLst>
              <a:gd name="adj" fmla="val 12500"/>
            </a:avLst>
          </a:prstGeom>
          <a:solidFill>
            <a:srgbClr val="2E3A6E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0" y="2715768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921240" y="2715768"/>
            <a:ext cx="1554480" cy="438912"/>
          </a:xfrm>
          <a:prstGeom prst="roundRect">
            <a:avLst>
              <a:gd name="adj" fmla="val 12500"/>
            </a:avLst>
          </a:prstGeom>
          <a:solidFill>
            <a:srgbClr val="2E3A6E"/>
          </a:solidFill>
          <a:ln/>
        </p:spPr>
      </p:sp>
      <p:sp>
        <p:nvSpPr>
          <p:cNvPr id="21" name="Text 19"/>
          <p:cNvSpPr/>
          <p:nvPr/>
        </p:nvSpPr>
        <p:spPr>
          <a:xfrm>
            <a:off x="9921240" y="2715768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checkbox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37960" y="3282696"/>
            <a:ext cx="1554480" cy="438912"/>
          </a:xfrm>
          <a:prstGeom prst="roundRect">
            <a:avLst>
              <a:gd name="adj" fmla="val 12500"/>
            </a:avLst>
          </a:prstGeom>
          <a:solidFill>
            <a:srgbClr val="2E3A6E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3282696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radio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229600" y="3282696"/>
            <a:ext cx="1554480" cy="438912"/>
          </a:xfrm>
          <a:prstGeom prst="roundRect">
            <a:avLst>
              <a:gd name="adj" fmla="val 12500"/>
            </a:avLst>
          </a:prstGeom>
          <a:solidFill>
            <a:srgbClr val="2E3A6E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0" y="3282696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921240" y="3282696"/>
            <a:ext cx="1554480" cy="438912"/>
          </a:xfrm>
          <a:prstGeom prst="roundRect">
            <a:avLst>
              <a:gd name="adj" fmla="val 12500"/>
            </a:avLst>
          </a:prstGeom>
          <a:solidFill>
            <a:srgbClr val="2E3A6E"/>
          </a:solidFill>
          <a:ln/>
        </p:spPr>
      </p:sp>
      <p:sp>
        <p:nvSpPr>
          <p:cNvPr id="27" name="Text 25"/>
          <p:cNvSpPr/>
          <p:nvPr/>
        </p:nvSpPr>
        <p:spPr>
          <a:xfrm>
            <a:off x="9921240" y="3282696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537960" y="4023360"/>
            <a:ext cx="4937760" cy="1691640"/>
          </a:xfrm>
          <a:prstGeom prst="roundRect">
            <a:avLst>
              <a:gd name="adj" fmla="val 4324"/>
            </a:avLst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6766560" y="4206240"/>
            <a:ext cx="4480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atributo "type" do &lt;input&gt; define o comportamento do campo — texto, número, senha oculta, seleção de arquivo, e assim por diante.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Formulários — outros elementos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30352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38988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68680" y="1737360"/>
            <a:ext cx="4846320" cy="1051560"/>
          </a:xfrm>
          <a:prstGeom prst="roundRect">
            <a:avLst>
              <a:gd name="adj" fmla="val 5217"/>
            </a:avLst>
          </a:prstGeom>
          <a:solidFill>
            <a:srgbClr val="12172E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10512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&lt;select&gt;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&lt;option&gt;</a:t>
            </a:r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</a:t>
            </a:r>
            <a:pPr indent="0" marL="0">
              <a:buNone/>
            </a:pPr>
            <a:r>
              <a:rPr lang="en-US" sz="11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&lt;/option&gt;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&lt;option&gt;</a:t>
            </a:r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RJ</a:t>
            </a:r>
            <a:pPr indent="0" marL="0">
              <a:buNone/>
            </a:pPr>
            <a:r>
              <a:rPr lang="en-US" sz="11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&lt;/option&gt;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&lt;/select&gt;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8680" y="2880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suspensa de opções.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280160"/>
            <a:ext cx="530352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38988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textarea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46520" y="1737360"/>
            <a:ext cx="4846320" cy="1051560"/>
          </a:xfrm>
          <a:prstGeom prst="roundRect">
            <a:avLst>
              <a:gd name="adj" fmla="val 5217"/>
            </a:avLst>
          </a:prstGeom>
          <a:solidFill>
            <a:srgbClr val="12172E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810512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&lt;textarea&gt;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&lt;/textarea&gt;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46520" y="2880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de texto com várias linhas.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657600"/>
            <a:ext cx="530352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76732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68680" y="4114800"/>
            <a:ext cx="4846320" cy="1051560"/>
          </a:xfrm>
          <a:prstGeom prst="roundRect">
            <a:avLst>
              <a:gd name="adj" fmla="val 5217"/>
            </a:avLst>
          </a:prstGeom>
          <a:solidFill>
            <a:srgbClr val="12172E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187952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&lt;button&gt;</a:t>
            </a:r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Enviar</a:t>
            </a:r>
            <a:pPr indent="0" marL="0">
              <a:buNone/>
            </a:pPr>
            <a:r>
              <a:rPr lang="en-US" sz="11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68680" y="5257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Botão clicável.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3657600"/>
            <a:ext cx="530352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376732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46520" y="4114800"/>
            <a:ext cx="4846320" cy="1051560"/>
          </a:xfrm>
          <a:prstGeom prst="roundRect">
            <a:avLst>
              <a:gd name="adj" fmla="val 5217"/>
            </a:avLst>
          </a:prstGeom>
          <a:solidFill>
            <a:srgbClr val="12172E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4187952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&lt;label</a:t>
            </a:r>
            <a:pPr indent="0" marL="0">
              <a:buNone/>
            </a:pPr>
            <a:r>
              <a:rPr lang="en-US" sz="11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for="nome"&gt;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Nome</a:t>
            </a:r>
            <a:pPr indent="0" marL="0">
              <a:buNone/>
            </a:pPr>
            <a:r>
              <a:rPr lang="en-US" sz="11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&lt;/label&gt;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46520" y="5257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Rótulo associado a um campo.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 e span — containers genéricos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têm significado semântico próprio — são usados para agrupar e organizar elementos (junto com CSS/JS).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3566160"/>
          </a:xfrm>
          <a:prstGeom prst="roundRect">
            <a:avLst>
              <a:gd name="adj" fmla="val 2564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5257800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5257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&lt;div&gt;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651760"/>
            <a:ext cx="4709160" cy="1463040"/>
          </a:xfrm>
          <a:prstGeom prst="roundRect">
            <a:avLst>
              <a:gd name="adj" fmla="val 5000"/>
            </a:avLst>
          </a:prstGeom>
          <a:solidFill>
            <a:srgbClr val="12172E"/>
          </a:solidFill>
          <a:ln/>
        </p:spPr>
      </p:sp>
      <p:sp>
        <p:nvSpPr>
          <p:cNvPr id="8" name="Shape 6"/>
          <p:cNvSpPr/>
          <p:nvPr/>
        </p:nvSpPr>
        <p:spPr>
          <a:xfrm>
            <a:off x="1097280" y="28163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1298448" y="28163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499616" y="28163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108960"/>
            <a:ext cx="4160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&lt;h2&gt;Título&lt;/h2&gt;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&lt;p&gt;Texto&lt;/p&gt;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429768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(ocupa a largura toda). Usado para agrupar seções maiores de conteúdo.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1828800"/>
            <a:ext cx="5257800" cy="3566160"/>
          </a:xfrm>
          <a:prstGeom prst="roundRect">
            <a:avLst>
              <a:gd name="adj" fmla="val 2564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828800"/>
            <a:ext cx="5257800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1828800"/>
            <a:ext cx="5257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&lt;span&gt;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37960" y="2651760"/>
            <a:ext cx="4709160" cy="1463040"/>
          </a:xfrm>
          <a:prstGeom prst="roundRect">
            <a:avLst>
              <a:gd name="adj" fmla="val 5000"/>
            </a:avLst>
          </a:prstGeom>
          <a:solidFill>
            <a:srgbClr val="12172E"/>
          </a:solidFill>
          <a:ln/>
        </p:spPr>
      </p:sp>
      <p:sp>
        <p:nvSpPr>
          <p:cNvPr id="17" name="Shape 15"/>
          <p:cNvSpPr/>
          <p:nvPr/>
        </p:nvSpPr>
        <p:spPr>
          <a:xfrm>
            <a:off x="6720840" y="28163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8" name="Shape 16"/>
          <p:cNvSpPr/>
          <p:nvPr/>
        </p:nvSpPr>
        <p:spPr>
          <a:xfrm>
            <a:off x="6922008" y="28163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9" name="Shape 17"/>
          <p:cNvSpPr/>
          <p:nvPr/>
        </p:nvSpPr>
        <p:spPr>
          <a:xfrm>
            <a:off x="7123176" y="28163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8"/>
          <p:cNvSpPr/>
          <p:nvPr/>
        </p:nvSpPr>
        <p:spPr>
          <a:xfrm>
            <a:off x="6812280" y="3108960"/>
            <a:ext cx="4160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Preço: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&lt;span&gt;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R$ 45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&lt;/span&gt;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37960" y="429768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linha (inline). Usado para estilizar um pequeno trecho dentro de um texto.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Tags semânticas do HTML5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Descrevem o significado da estrutura da página, e não apenas sua aparência.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760720" cy="640080"/>
          </a:xfrm>
          <a:prstGeom prst="roundRect">
            <a:avLst>
              <a:gd name="adj" fmla="val 8571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576072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42316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&lt;nav&gt;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3744468" cy="2103120"/>
          </a:xfrm>
          <a:prstGeom prst="roundRect">
            <a:avLst>
              <a:gd name="adj" fmla="val 2609"/>
            </a:avLst>
          </a:prstGeom>
          <a:solidFill>
            <a:srgbClr val="2E3A6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017520"/>
            <a:ext cx="374446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&lt;section&gt;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&lt;article&gt;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57370" y="3017520"/>
            <a:ext cx="1843430" cy="2103120"/>
          </a:xfrm>
          <a:prstGeom prst="roundRect">
            <a:avLst>
              <a:gd name="adj" fmla="val 2976"/>
            </a:avLst>
          </a:prstGeom>
          <a:solidFill>
            <a:srgbClr val="465185"/>
          </a:solidFill>
          <a:ln/>
        </p:spPr>
      </p:sp>
      <p:sp>
        <p:nvSpPr>
          <p:cNvPr id="11" name="Text 9"/>
          <p:cNvSpPr/>
          <p:nvPr/>
        </p:nvSpPr>
        <p:spPr>
          <a:xfrm>
            <a:off x="4557370" y="3017520"/>
            <a:ext cx="184343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&lt;aside&gt;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5212080"/>
            <a:ext cx="5760720" cy="64008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5212080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75120" y="16916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092440" y="16916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Cabeçalho da página ou seção.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675120" y="231343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092440" y="231343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de navegação.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675120" y="2935224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092440" y="2935224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principal (único por página).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675120" y="3557016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092440" y="3557016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 um bloco temático de conteúdo.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675120" y="417880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article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092440" y="417880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independente (post, notícia).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675120" y="48006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aside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092440" y="48006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complementar (barra lateral).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675120" y="542239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footer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092440" y="542239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Rodapé da página ou seção.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Atributos globais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Podem ser usados em praticamente qualquer tag HTML.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2E3A6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0195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Identificador único do elemento.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73736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2E3A6E"/>
          </a:solidFill>
          <a:ln/>
        </p:spPr>
      </p:sp>
      <p:sp>
        <p:nvSpPr>
          <p:cNvPr id="8" name="Text 6"/>
          <p:cNvSpPr/>
          <p:nvPr/>
        </p:nvSpPr>
        <p:spPr>
          <a:xfrm>
            <a:off x="4526280" y="190195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26280" y="23774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usada para estilizar via CSS.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55280" y="173736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2E3A6E"/>
          </a:solidFill>
          <a:ln/>
        </p:spPr>
      </p:sp>
      <p:sp>
        <p:nvSpPr>
          <p:cNvPr id="11" name="Text 9"/>
          <p:cNvSpPr/>
          <p:nvPr/>
        </p:nvSpPr>
        <p:spPr>
          <a:xfrm>
            <a:off x="8183880" y="190195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83880" y="23774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 aplicado diretamente na tag.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29184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2E3A6E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45643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393192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exibido ao passar o mouse.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97680" y="329184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2E3A6E"/>
          </a:solidFill>
          <a:ln/>
        </p:spPr>
      </p:sp>
      <p:sp>
        <p:nvSpPr>
          <p:cNvPr id="17" name="Text 15"/>
          <p:cNvSpPr/>
          <p:nvPr/>
        </p:nvSpPr>
        <p:spPr>
          <a:xfrm>
            <a:off x="4526280" y="345643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data-*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26280" y="393192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 dados personalizados (ex: data-id).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55280" y="329184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2E3A6E"/>
          </a:solidFill>
          <a:ln/>
        </p:spPr>
      </p:sp>
      <p:sp>
        <p:nvSpPr>
          <p:cNvPr id="20" name="Text 18"/>
          <p:cNvSpPr/>
          <p:nvPr/>
        </p:nvSpPr>
        <p:spPr>
          <a:xfrm>
            <a:off x="8183880" y="345643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83880" y="393192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 idioma do conteúdo.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5074920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12172E"/>
          </a:solidFill>
          <a:ln/>
        </p:spPr>
      </p:sp>
      <p:sp>
        <p:nvSpPr>
          <p:cNvPr id="23" name="Shape 21"/>
          <p:cNvSpPr/>
          <p:nvPr/>
        </p:nvSpPr>
        <p:spPr>
          <a:xfrm>
            <a:off x="822960" y="523951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4" name="Shape 22"/>
          <p:cNvSpPr/>
          <p:nvPr/>
        </p:nvSpPr>
        <p:spPr>
          <a:xfrm>
            <a:off x="1024128" y="523951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5" name="Shape 23"/>
          <p:cNvSpPr/>
          <p:nvPr/>
        </p:nvSpPr>
        <p:spPr>
          <a:xfrm>
            <a:off x="1225296" y="523951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553212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id="carrinho" class="destaque" title="Seu carrinho"&gt;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Comentários em HTML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Usados para deixar anotações no código. Não aparecem na página e não são executados.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2011680"/>
          </a:xfrm>
          <a:prstGeom prst="roundRect">
            <a:avLst>
              <a:gd name="adj" fmla="val 3636"/>
            </a:avLst>
          </a:prstGeom>
          <a:solidFill>
            <a:srgbClr val="12172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9339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199339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225296" y="199339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286000"/>
            <a:ext cx="103327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Isto é um comentário --&gt;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Início do cabeçalho --&gt;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&lt;h1&gt;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Minha empresa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&lt;/header&gt;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Fim do cabeçalho --&gt;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4206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servem?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46634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Explicar trechos do código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26480" y="46634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Organizar seções grandes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5120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Desativar temporariamente um trecho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26480" y="5120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Deixar recados para a equipe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Boas práticas com HTML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6420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642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37160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tags semânticas sempre que possível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166420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6642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0" y="137160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preencha o atributo alt em imagens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46888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276148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7614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246888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Indente o código para facilitar a leitura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246888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276148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7614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0" y="246888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Feche todas as tags corretamente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56616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385876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8587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80160" y="356616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um &lt;h1&gt; por página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17920" y="356616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385876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38587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858000" y="356616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Evite tags obsoletas (&lt;font&gt;, &lt;center&gt;)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" y="466344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" y="495604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49560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280160" y="466344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Separe estrutura (HTML) de estilo (CSS)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217920" y="466344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0" y="495604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0" y="49560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858000" y="466344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 o código (W3C Validator)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 rápida de tags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2E3A6E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37160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1719072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html, head, body, title, meta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172200" y="128016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2E3A6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0" y="137160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0" y="1719072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h1–h6, p, br, hr, strong, em, span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37744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2E3A6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6888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2816352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ul, ol, li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72200" y="237744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2E3A6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246888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e mídia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2816352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a, img, video, audio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47472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2E3A6E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56616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3913632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table, tr, th, td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72200" y="347472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2E3A6E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356616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3913632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form, input, select, textarea, button, label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57200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2E3A6E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66344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genérico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" y="5010912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div, span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72200" y="457200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2E3A6E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466344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Semântica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0" y="5010912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header, nav, main, section, article, aside, footer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 prática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uma página HTML completa contendo: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03520" cy="777240"/>
          </a:xfrm>
          <a:prstGeom prst="roundRect">
            <a:avLst>
              <a:gd name="adj" fmla="val 7059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33956"/>
            <a:ext cx="201168" cy="201168"/>
          </a:xfrm>
          <a:prstGeom prst="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E44D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64592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básica (doctype, html, head, body)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303520" cy="777240"/>
          </a:xfrm>
          <a:prstGeom prst="roundRect">
            <a:avLst>
              <a:gd name="adj" fmla="val 7059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82512" y="1933956"/>
            <a:ext cx="201168" cy="201168"/>
          </a:xfrm>
          <a:prstGeom prst="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E44D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20840" y="164592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título principal e um subtítulo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560320"/>
            <a:ext cx="5303520" cy="777240"/>
          </a:xfrm>
          <a:prstGeom prst="roundRect">
            <a:avLst>
              <a:gd name="adj" fmla="val 7059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2848356"/>
            <a:ext cx="201168" cy="201168"/>
          </a:xfrm>
          <a:prstGeom prst="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E44D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56032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parágrafos de texto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560320"/>
            <a:ext cx="5303520" cy="777240"/>
          </a:xfrm>
          <a:prstGeom prst="roundRect">
            <a:avLst>
              <a:gd name="adj" fmla="val 7059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82512" y="2848356"/>
            <a:ext cx="201168" cy="201168"/>
          </a:xfrm>
          <a:prstGeom prst="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E44D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256032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imagem com atributo alt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474720"/>
            <a:ext cx="5303520" cy="777240"/>
          </a:xfrm>
          <a:prstGeom prst="roundRect">
            <a:avLst>
              <a:gd name="adj" fmla="val 7059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3762756"/>
            <a:ext cx="201168" cy="201168"/>
          </a:xfrm>
          <a:prstGeom prst="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E44D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347472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lista (ordenada ou não ordenada)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3474720"/>
            <a:ext cx="5303520" cy="777240"/>
          </a:xfrm>
          <a:prstGeom prst="roundRect">
            <a:avLst>
              <a:gd name="adj" fmla="val 7059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82512" y="3762756"/>
            <a:ext cx="201168" cy="201168"/>
          </a:xfrm>
          <a:prstGeom prst="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E44D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347472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link para outra página ou site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389120"/>
            <a:ext cx="5303520" cy="777240"/>
          </a:xfrm>
          <a:prstGeom prst="roundRect">
            <a:avLst>
              <a:gd name="adj" fmla="val 7059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" y="4677156"/>
            <a:ext cx="201168" cy="201168"/>
          </a:xfrm>
          <a:prstGeom prst="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E44D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43000" y="438912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tabela simples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4389120"/>
            <a:ext cx="5303520" cy="777240"/>
          </a:xfrm>
          <a:prstGeom prst="roundRect">
            <a:avLst>
              <a:gd name="adj" fmla="val 7059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82512" y="4677156"/>
            <a:ext cx="201168" cy="201168"/>
          </a:xfrm>
          <a:prstGeom prst="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E44D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20840" y="438912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formulário com pelo menos dois campos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5303520"/>
            <a:ext cx="5303520" cy="777240"/>
          </a:xfrm>
          <a:prstGeom prst="roundRect">
            <a:avLst>
              <a:gd name="adj" fmla="val 7059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4672" y="5591556"/>
            <a:ext cx="201168" cy="201168"/>
          </a:xfrm>
          <a:prstGeom prst="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E44D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43000" y="530352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semânticas (header, main, footer)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17920" y="5303520"/>
            <a:ext cx="5303520" cy="777240"/>
          </a:xfrm>
          <a:prstGeom prst="roundRect">
            <a:avLst>
              <a:gd name="adj" fmla="val 7059"/>
            </a:avLst>
          </a:prstGeom>
          <a:solidFill>
            <a:srgbClr val="F7F9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82512" y="5591556"/>
            <a:ext cx="201168" cy="201168"/>
          </a:xfrm>
          <a:prstGeom prst="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E44D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20840" y="530352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 menos um comentário explicando uma seção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572000"/>
            <a:ext cx="3657600" cy="3657600"/>
          </a:xfrm>
          <a:prstGeom prst="ellipse">
            <a:avLst/>
          </a:prstGeom>
          <a:solidFill>
            <a:srgbClr val="E44D26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aprendemos sobre HTML?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9344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93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554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e para que serve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609344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172200" y="16093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56248" y="1554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principais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295144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951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240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Anatomia de uma tag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72200" y="2295144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22951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56248" y="2240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básica de um documento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2980944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9809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24128" y="2926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de texto, listas, links e mídia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172200" y="2980944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29809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56248" y="2926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 e formulários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" y="3666744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6667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24128" y="36118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semânticas do HTML5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172200" y="3666744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6172200" y="36667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56248" y="36118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Atributos, comentários e boas práticas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40080" y="448056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E44D26"/>
          </a:solidFill>
          <a:ln/>
        </p:spPr>
      </p:sp>
      <p:sp>
        <p:nvSpPr>
          <p:cNvPr id="29" name="Text 27"/>
          <p:cNvSpPr/>
          <p:nvPr/>
        </p:nvSpPr>
        <p:spPr>
          <a:xfrm>
            <a:off x="1005840" y="4480560"/>
            <a:ext cx="10149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é a base de tudo na Web: sem estrutura, não há o que estilizar (CSS) nem o que tornar interativo (JavaScript).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2026-08-24T11:18:21Z</dcterms:created>
  <dcterms:modified xsi:type="dcterms:W3CDTF">2026-08-24T11:18:21Z</dcterms:modified>
</cp:coreProperties>
</file>