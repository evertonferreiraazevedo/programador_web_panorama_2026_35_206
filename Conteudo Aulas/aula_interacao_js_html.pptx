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7DF1E"/>
                </a:solidFill>
                <a:latin typeface="Arial"/>
              </a:defRPr>
            </a:pPr>
            <a:r>
              <a:t>JavaScript + HTML</a:t>
            </a:r>
          </a:p>
          <a:p>
            <a:pPr>
              <a:defRPr sz="2800">
                <a:solidFill>
                  <a:srgbClr val="F0F0F0"/>
                </a:solidFill>
                <a:latin typeface="Arial"/>
              </a:defRPr>
            </a:pPr>
            <a:r>
              <a:t>A Ponte de Interação (Manipulação do DOM)</a:t>
            </a:r>
          </a:p>
          <a:p>
            <a:pPr>
              <a:defRPr sz="1800">
                <a:solidFill>
                  <a:srgbClr val="B4B4B4"/>
                </a:solidFill>
                <a:latin typeface="Arial"/>
              </a:defRPr>
            </a:pPr>
            <a:r>
              <a:t>Guia Completo de Aula Prática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0F0F0"/>
                </a:solidFill>
                <a:latin typeface="Arial"/>
              </a:defRPr>
            </a:pPr>
            <a:r>
              <a:t>O Fluxo Universal da Interação</a:t>
            </a:r>
          </a:p>
          <a:p>
            <a:pPr>
              <a:defRPr sz="1800">
                <a:solidFill>
                  <a:srgbClr val="B4B4B4"/>
                </a:solidFill>
                <a:latin typeface="Arial"/>
              </a:defRPr>
            </a:pPr>
            <a:r>
              <a:t>Toda ação entre JavaScript e HTML segue 3 passos obrigatórios: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7DF1E"/>
                </a:solidFill>
                <a:latin typeface="Arial"/>
              </a:defRPr>
            </a:pPr>
            <a:r>
              <a:t>1. SELECIONAR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t>O JS localiza a tag no HTML que queremos monitorar ou alterar usando o ID.</a:t>
            </a:r>
            <a:br/>
          </a:p>
          <a:p>
            <a:pPr>
              <a:defRPr sz="2200" b="1">
                <a:solidFill>
                  <a:srgbClr val="F7DF1E"/>
                </a:solidFill>
                <a:latin typeface="Arial"/>
              </a:defRPr>
            </a:pPr>
            <a:r>
              <a:t>2. ESCUTAR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t>O JS fica de guarda vigiando as ações do usuário (eventos como o 'click').</a:t>
            </a:r>
            <a:br/>
          </a:p>
          <a:p>
            <a:pPr>
              <a:defRPr sz="2200" b="1">
                <a:solidFill>
                  <a:srgbClr val="F7DF1E"/>
                </a:solidFill>
                <a:latin typeface="Arial"/>
              </a:defRPr>
            </a:pPr>
            <a:r>
              <a:t>3. MODIFICAR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t>O JS executa a lógica e altera o conteúdo da tela em tempo real.</a:t>
            </a:r>
            <a:b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0F0F0"/>
                </a:solidFill>
                <a:latin typeface="Arial"/>
              </a:defRPr>
            </a:pPr>
            <a:r>
              <a:t>1. O Arquivo Estrutural: index.html</a:t>
            </a:r>
          </a:p>
          <a:p>
            <a:pPr>
              <a:defRPr sz="1800">
                <a:solidFill>
                  <a:srgbClr val="B4B4B4"/>
                </a:solidFill>
                <a:latin typeface="Arial"/>
              </a:defRPr>
            </a:pPr>
            <a:r>
              <a:t>Crie a estrutura pura e use os IDs como o 'CPF' de cada tag.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EC9B0"/>
                </a:solidFill>
                <a:latin typeface="Consolas"/>
              </a:defRPr>
            </a:pPr>
            <a:r>
              <a:t>&lt;!DOCTYPE html&gt;</a:t>
            </a:r>
            <a:br/>
            <a:r>
              <a:t>&lt;html lang="pt-BR"&gt;</a:t>
            </a:r>
            <a:br/>
            <a:r>
              <a:t>&lt;body&gt;</a:t>
            </a:r>
            <a:br/>
            <a:r>
              <a:t>    &lt;h1&gt;Painel de Boas-Vindas&lt;/h1&gt;</a:t>
            </a:r>
            <a:br/>
            <a:r>
              <a:t>    &lt;input type="text" id="campoNome" placeholder="Digite seu nome"&gt;</a:t>
            </a:r>
            <a:br/>
            <a:r>
              <a:t>    &lt;button id="btnDia"&gt;Desejar Bom Dia&lt;/button&gt;</a:t>
            </a:r>
            <a:br/>
            <a:r>
              <a:t>    &lt;button id="btnNoite"&gt;Desejar Boa Noite&lt;/button&gt;</a:t>
            </a:r>
            <a:br/>
            <a:r>
              <a:t>    &lt;div id="painelResultado"&gt;&lt;p&gt;Aguardando...&lt;/p&gt;&lt;/div&gt;</a:t>
            </a:r>
            <a:br/>
            <a:br/>
            <a:r>
              <a:t>    &lt;!-- Ligação com o arquivo de lógica externa --&gt;</a:t>
            </a:r>
            <a:br/>
            <a:r>
              <a:t>    &lt;script src="script.js"&gt;&lt;/script&gt;</a:t>
            </a:r>
            <a:br/>
            <a:r>
              <a:t>&lt;/body&gt;</a:t>
            </a:r>
            <a:br/>
            <a:r>
              <a:t>&lt;/html&gt;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0F0F0"/>
                </a:solidFill>
                <a:latin typeface="Arial"/>
              </a:defRPr>
            </a:pPr>
            <a:r>
              <a:t>2. O Arquivo de Lógica: script.js</a:t>
            </a:r>
          </a:p>
          <a:p>
            <a:pPr>
              <a:defRPr sz="1800">
                <a:solidFill>
                  <a:srgbClr val="B4B4B4"/>
                </a:solidFill>
                <a:latin typeface="Arial"/>
              </a:defRPr>
            </a:pPr>
            <a:r>
              <a:t>Crie o comportamento unindo Seleção, Escuta e Modificação.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4EC9B0"/>
                </a:solidFill>
                <a:latin typeface="Consolas"/>
              </a:defRPr>
            </a:pPr>
            <a:r>
              <a:t>// PASSO 1: SELECIONAR OS ELEMENTOS</a:t>
            </a:r>
            <a:br/>
            <a:r>
              <a:t>const caixaTexto = document.querySelector('#campoNome');</a:t>
            </a:r>
            <a:br/>
            <a:r>
              <a:t>const botaoDia = document.querySelector('#btnDia');</a:t>
            </a:r>
            <a:br/>
            <a:r>
              <a:t>const areaResultado = document.querySelector('#painelResultado');</a:t>
            </a:r>
            <a:br/>
            <a:br/>
            <a:r>
              <a:t>// PASSO 2 &amp; 3: ESCUTAR E MODIFICAR</a:t>
            </a:r>
            <a:br/>
            <a:r>
              <a:t>botaoDia.addEventListener('click', function() {</a:t>
            </a:r>
            <a:br/>
            <a:r>
              <a:t>    let nomeUsuario = caixaTexto.value; // Pega o texto do input</a:t>
            </a:r>
            <a:br/>
            <a:br/>
            <a:r>
              <a:t>    if (nomeUsuario === "") {</a:t>
            </a:r>
            <a:br/>
            <a:r>
              <a:t>        nomeUsuario = "Visitante";</a:t>
            </a:r>
            <a:br/>
            <a:r>
              <a:t>    }</a:t>
            </a:r>
            <a:br/>
            <a:br/>
            <a:r>
              <a:t>    // Injeta texto puro com total segurança</a:t>
            </a:r>
            <a:br/>
            <a:r>
              <a:t>    areaResultado.textContent = `☀️ Bom dia, ${nomeUsuario}!`;</a:t>
            </a:r>
            <a:br/>
            <a:r>
              <a:t>});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0F0F0"/>
                </a:solidFill>
                <a:latin typeface="Arial"/>
              </a:defRPr>
            </a:pPr>
            <a:r>
              <a:t>Conceitos-Chave (Para Fixar)</a:t>
            </a:r>
          </a:p>
          <a:p>
            <a:pPr>
              <a:defRPr sz="1800">
                <a:solidFill>
                  <a:srgbClr val="B4B4B4"/>
                </a:solidFill>
                <a:latin typeface="Arial"/>
              </a:defRPr>
            </a:pPr>
            <a:r>
              <a:t>Diferenças essenciais que evitam bugs na programação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7DF1E"/>
                </a:solidFill>
                <a:latin typeface="Arial"/>
              </a:defRPr>
            </a:pPr>
            <a:r>
              <a:t>document.querySelector('#id')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t>Usa obrigatoriamente a hashtag '#' para indicar que busca um ID do HTML.</a:t>
            </a:r>
            <a:br/>
          </a:p>
          <a:p>
            <a:pPr>
              <a:defRPr sz="2000" b="1">
                <a:solidFill>
                  <a:srgbClr val="F7DF1E"/>
                </a:solidFill>
                <a:latin typeface="Arial"/>
              </a:defRPr>
            </a:pPr>
            <a:r>
              <a:t>.value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t>Propriedade usada ÚNICA E EXCLUSIVAMENTE para ler ou escrever dados dentro de campos de entrada (&lt;input&gt;).</a:t>
            </a:r>
            <a:br/>
          </a:p>
          <a:p>
            <a:pPr>
              <a:defRPr sz="2000" b="1">
                <a:solidFill>
                  <a:srgbClr val="F7DF1E"/>
                </a:solidFill>
                <a:latin typeface="Arial"/>
              </a:defRPr>
            </a:pPr>
            <a:r>
              <a:t>.textContent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t>Propriedade usada para alterar o texto interno visível de tags como &lt;div&gt;, &lt;p&gt;, &lt;span&gt; ou &lt;h1&gt;.</a:t>
            </a:r>
            <a:b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0F0F0"/>
                </a:solidFill>
                <a:latin typeface="Arial"/>
              </a:defRPr>
            </a:pPr>
            <a:r>
              <a:t>🛑 Erros Comuns dos Alunos na Bancada</a:t>
            </a:r>
          </a:p>
          <a:p>
            <a:pPr>
              <a:defRPr sz="1800">
                <a:solidFill>
                  <a:srgbClr val="B4B4B4"/>
                </a:solidFill>
                <a:latin typeface="Arial"/>
              </a:defRPr>
            </a:pPr>
            <a:r>
              <a:t>Fique de olho nestes 3 deslizes clássicos durante o laboratório: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6464"/>
                </a:solidFill>
                <a:latin typeface="Arial"/>
              </a:defRPr>
            </a:pPr>
            <a:r>
              <a:t>Esquecer o '#' no querySelector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t>Escrever querySelector('campoNome'). O JS não acha o elemento e retorna 'null'.</a:t>
            </a:r>
            <a:br/>
          </a:p>
          <a:p>
            <a:pPr>
              <a:defRPr sz="2000" b="1">
                <a:solidFill>
                  <a:srgbClr val="FF6464"/>
                </a:solidFill>
                <a:latin typeface="Arial"/>
              </a:defRPr>
            </a:pPr>
            <a:r>
              <a:t>Colocar parênteses no .value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t>Escrever .value(). O correto é apenas .value, pois é um atributo/propriedade, não uma função.</a:t>
            </a:r>
            <a:br/>
          </a:p>
          <a:p>
            <a:pPr>
              <a:defRPr sz="2000" b="1">
                <a:solidFill>
                  <a:srgbClr val="FF6464"/>
                </a:solidFill>
                <a:latin typeface="Arial"/>
              </a:defRPr>
            </a:pPr>
            <a:r>
              <a:t>Esquecer de salvar os arquivos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t>O aluno altera o JS, testa no navegador e nada muda. Verifique se há uma bolinha branca na aba do VS Code.</a:t>
            </a:r>
            <a:b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0F0F0"/>
                </a:solidFill>
                <a:latin typeface="Arial"/>
              </a:defRPr>
            </a:pPr>
            <a:r>
              <a:t>🎯 Desafio Prático Próximos 20 Minutos</a:t>
            </a:r>
          </a:p>
          <a:p>
            <a:pPr>
              <a:defRPr sz="1800">
                <a:solidFill>
                  <a:srgbClr val="B4B4B4"/>
                </a:solidFill>
                <a:latin typeface="Arial"/>
              </a:defRPr>
            </a:pPr>
            <a:r>
              <a:t>Hora de colocar a turma para construir de forma independente: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7DF1E"/>
                </a:solidFill>
                <a:latin typeface="Arial"/>
              </a:defRPr>
            </a:pPr>
            <a:r>
              <a:t>O Enunciado para os Alunos:</a:t>
            </a:r>
          </a:p>
          <a:p>
            <a:pPr>
              <a:defRPr sz="2000">
                <a:solidFill>
                  <a:srgbClr val="F0F0F0"/>
                </a:solidFill>
                <a:latin typeface="Arial"/>
              </a:defRPr>
            </a:pPr>
            <a:r>
              <a:t>"Adicionem um terceiro botão no HTML com o id='btnSair'.</a:t>
            </a:r>
            <a:br/>
            <a:r>
              <a:t>No arquivo JavaScript, criem um escutador para esse botão.</a:t>
            </a:r>
            <a:br/>
            <a:r>
              <a:t>Quando ele for clicado, ele deve ler o nome do campo e injetar na tela a mensagem:</a:t>
            </a:r>
            <a:br/>
            <a:r>
              <a:t>👋 Tchau, [Nome]! Até a próxima aula!"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