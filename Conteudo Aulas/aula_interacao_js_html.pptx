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8597546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7DF1E"/>
                </a:solidFill>
                <a:latin typeface="Arial"/>
              </a:defRPr>
            </a:pPr>
            <a:r>
              <a:rPr dirty="0"/>
              <a:t>JavaScript + HTML</a:t>
            </a:r>
            <a:r>
              <a:rPr lang="pt-BR" dirty="0"/>
              <a:t> + CSS</a:t>
            </a:r>
            <a:endParaRPr dirty="0"/>
          </a:p>
          <a:p>
            <a:pPr>
              <a:defRPr sz="2800">
                <a:solidFill>
                  <a:srgbClr val="F0F0F0"/>
                </a:solidFill>
                <a:latin typeface="Arial"/>
              </a:defRPr>
            </a:pPr>
            <a:r>
              <a:rPr dirty="0"/>
              <a:t>A Ponte de </a:t>
            </a:r>
            <a:r>
              <a:rPr dirty="0" err="1"/>
              <a:t>Interação</a:t>
            </a:r>
            <a:r>
              <a:rPr dirty="0"/>
              <a:t> (</a:t>
            </a:r>
            <a:r>
              <a:rPr dirty="0" err="1"/>
              <a:t>Manipulação</a:t>
            </a:r>
            <a:r>
              <a:rPr dirty="0"/>
              <a:t> do DOM)</a:t>
            </a:r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rPr dirty="0" err="1"/>
              <a:t>Guia</a:t>
            </a:r>
            <a:r>
              <a:rPr dirty="0"/>
              <a:t> de Aula </a:t>
            </a:r>
            <a:r>
              <a:rPr dirty="0" err="1"/>
              <a:t>Prática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t>O Fluxo Universal da Interação</a:t>
            </a:r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t>Toda ação entre JavaScript e HTML segue 3 passos obrigatórios: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7DF1E"/>
                </a:solidFill>
                <a:latin typeface="Arial"/>
              </a:defRPr>
            </a:pPr>
            <a:r>
              <a:t>1. SELECIONAR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O JS localiza a tag no HTML que queremos monitorar ou alterar usando o ID.</a:t>
            </a:r>
            <a:br/>
            <a:endParaRPr/>
          </a:p>
          <a:p>
            <a:pPr>
              <a:defRPr sz="2200" b="1">
                <a:solidFill>
                  <a:srgbClr val="F7DF1E"/>
                </a:solidFill>
                <a:latin typeface="Arial"/>
              </a:defRPr>
            </a:pPr>
            <a:r>
              <a:t>2. ESCUTAR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O JS fica de guarda vigiando as ações do usuário (eventos como o 'click').</a:t>
            </a:r>
            <a:br/>
            <a:endParaRPr/>
          </a:p>
          <a:p>
            <a:pPr>
              <a:defRPr sz="2200" b="1">
                <a:solidFill>
                  <a:srgbClr val="F7DF1E"/>
                </a:solidFill>
                <a:latin typeface="Arial"/>
              </a:defRPr>
            </a:pPr>
            <a:r>
              <a:t>3. MODIFICAR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O JS executa a lógica e altera o conteúdo da tela em tempo real.</a:t>
            </a:r>
            <a:br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t>1. O Arquivo Estrutural: index.html</a:t>
            </a:r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t>Crie a estrutura pura e use os IDs como o 'CPF' de cada tag.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2110292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EC9B0"/>
                </a:solidFill>
                <a:latin typeface="Consolas"/>
              </a:defRPr>
            </a:pPr>
            <a:r>
              <a:rPr dirty="0"/>
              <a:t>&lt;!DOCTYPE html&gt;</a:t>
            </a:r>
            <a:br>
              <a:rPr dirty="0"/>
            </a:br>
            <a:r>
              <a:rPr dirty="0"/>
              <a:t>&lt;html </a:t>
            </a:r>
            <a:r>
              <a:rPr dirty="0" err="1"/>
              <a:t>lang</a:t>
            </a:r>
            <a:r>
              <a:rPr dirty="0"/>
              <a:t>="</a:t>
            </a:r>
            <a:r>
              <a:rPr dirty="0" err="1"/>
              <a:t>pt</a:t>
            </a:r>
            <a:r>
              <a:rPr dirty="0"/>
              <a:t>-BR"&gt;</a:t>
            </a:r>
            <a:br>
              <a:rPr dirty="0"/>
            </a:br>
            <a:r>
              <a:rPr dirty="0"/>
              <a:t>&lt;body&gt;</a:t>
            </a:r>
            <a:br>
              <a:rPr dirty="0"/>
            </a:br>
            <a:r>
              <a:rPr dirty="0"/>
              <a:t>    &lt;h1&gt;</a:t>
            </a:r>
            <a:r>
              <a:rPr dirty="0" err="1"/>
              <a:t>Painel</a:t>
            </a:r>
            <a:r>
              <a:rPr dirty="0"/>
              <a:t> de Boas-</a:t>
            </a:r>
            <a:r>
              <a:rPr dirty="0" err="1"/>
              <a:t>Vindas</a:t>
            </a:r>
            <a:r>
              <a:rPr dirty="0"/>
              <a:t>&lt;/h1&gt;</a:t>
            </a:r>
            <a:br>
              <a:rPr dirty="0"/>
            </a:br>
            <a:r>
              <a:rPr dirty="0"/>
              <a:t>    &lt;input type="text" id="</a:t>
            </a:r>
            <a:r>
              <a:rPr dirty="0" err="1"/>
              <a:t>campoNome</a:t>
            </a:r>
            <a:r>
              <a:rPr dirty="0"/>
              <a:t>" placeholder="</a:t>
            </a:r>
            <a:r>
              <a:rPr dirty="0" err="1"/>
              <a:t>Digite</a:t>
            </a:r>
            <a:r>
              <a:rPr dirty="0"/>
              <a:t>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nome</a:t>
            </a:r>
            <a:r>
              <a:rPr dirty="0"/>
              <a:t>"&gt;</a:t>
            </a:r>
            <a:br>
              <a:rPr dirty="0"/>
            </a:br>
            <a:r>
              <a:rPr dirty="0"/>
              <a:t>    &lt;button id="</a:t>
            </a:r>
            <a:r>
              <a:rPr dirty="0" err="1"/>
              <a:t>btnDia</a:t>
            </a:r>
            <a:r>
              <a:rPr dirty="0"/>
              <a:t>"&gt;</a:t>
            </a:r>
            <a:r>
              <a:rPr dirty="0" err="1"/>
              <a:t>Desejar</a:t>
            </a:r>
            <a:r>
              <a:rPr dirty="0"/>
              <a:t> Bom </a:t>
            </a:r>
            <a:r>
              <a:rPr dirty="0" err="1"/>
              <a:t>Dia</a:t>
            </a:r>
            <a:r>
              <a:rPr dirty="0"/>
              <a:t>&lt;/button&gt;</a:t>
            </a:r>
            <a:br>
              <a:rPr dirty="0"/>
            </a:br>
            <a:r>
              <a:rPr dirty="0"/>
              <a:t>    &lt;button id="</a:t>
            </a:r>
            <a:r>
              <a:rPr dirty="0" err="1"/>
              <a:t>btnNoite</a:t>
            </a:r>
            <a:r>
              <a:rPr dirty="0"/>
              <a:t>"&gt;</a:t>
            </a:r>
            <a:r>
              <a:rPr dirty="0" err="1"/>
              <a:t>Desejar</a:t>
            </a:r>
            <a:r>
              <a:rPr dirty="0"/>
              <a:t> Boa </a:t>
            </a:r>
            <a:r>
              <a:rPr dirty="0" err="1"/>
              <a:t>Noite</a:t>
            </a:r>
            <a:r>
              <a:rPr dirty="0"/>
              <a:t>&lt;/button&gt;</a:t>
            </a:r>
            <a:br>
              <a:rPr dirty="0"/>
            </a:br>
            <a:r>
              <a:rPr dirty="0"/>
              <a:t>    &lt;div id="</a:t>
            </a:r>
            <a:r>
              <a:rPr dirty="0" err="1"/>
              <a:t>painelResultado</a:t>
            </a:r>
            <a:r>
              <a:rPr dirty="0"/>
              <a:t>"&gt;&lt;p&gt;</a:t>
            </a:r>
            <a:r>
              <a:rPr dirty="0" err="1"/>
              <a:t>Aguardando</a:t>
            </a:r>
            <a:r>
              <a:rPr dirty="0"/>
              <a:t>...&lt;/p&gt;&lt;/div&gt;</a:t>
            </a:r>
            <a:br>
              <a:rPr dirty="0"/>
            </a:br>
            <a:br>
              <a:rPr dirty="0"/>
            </a:br>
            <a:r>
              <a:rPr dirty="0"/>
              <a:t>    &lt;!-- </a:t>
            </a:r>
            <a:r>
              <a:rPr dirty="0" err="1"/>
              <a:t>Ligação</a:t>
            </a:r>
            <a:r>
              <a:rPr dirty="0"/>
              <a:t> com o </a:t>
            </a:r>
            <a:r>
              <a:rPr dirty="0" err="1"/>
              <a:t>arquivo</a:t>
            </a:r>
            <a:r>
              <a:rPr dirty="0"/>
              <a:t> de </a:t>
            </a:r>
            <a:r>
              <a:rPr dirty="0" err="1"/>
              <a:t>lógica</a:t>
            </a:r>
            <a:r>
              <a:rPr dirty="0"/>
              <a:t> externa --&gt;</a:t>
            </a:r>
            <a:br>
              <a:rPr dirty="0"/>
            </a:br>
            <a:r>
              <a:rPr dirty="0"/>
              <a:t>    &lt;script </a:t>
            </a:r>
            <a:r>
              <a:rPr dirty="0" err="1"/>
              <a:t>src</a:t>
            </a:r>
            <a:r>
              <a:rPr dirty="0"/>
              <a:t>="script.js"&gt;&lt;/script&gt;</a:t>
            </a:r>
            <a:br>
              <a:rPr dirty="0"/>
            </a:br>
            <a:r>
              <a:rPr dirty="0"/>
              <a:t>&lt;/body&gt;</a:t>
            </a:r>
            <a:br>
              <a:rPr dirty="0"/>
            </a:br>
            <a:r>
              <a:rPr dirty="0"/>
              <a:t>&lt;/html&gt;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t>2. O Arquivo de Lógica: script.js</a:t>
            </a:r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t>Crie o comportamento unindo Seleção, Escuta e Modificação.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EC9B0"/>
                </a:solidFill>
                <a:latin typeface="Consolas"/>
              </a:defRPr>
            </a:pPr>
            <a:r>
              <a:rPr dirty="0"/>
              <a:t>// PASSO 1: SELECIONAR OS ELEMENTOS</a:t>
            </a:r>
            <a:br>
              <a:rPr dirty="0"/>
            </a:br>
            <a:r>
              <a:rPr dirty="0"/>
              <a:t>const </a:t>
            </a:r>
            <a:r>
              <a:rPr dirty="0" err="1"/>
              <a:t>caixaTexto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('#</a:t>
            </a:r>
            <a:r>
              <a:rPr dirty="0" err="1"/>
              <a:t>campoNome</a:t>
            </a:r>
            <a:r>
              <a:rPr dirty="0"/>
              <a:t>');</a:t>
            </a:r>
            <a:br>
              <a:rPr dirty="0"/>
            </a:br>
            <a:r>
              <a:rPr dirty="0"/>
              <a:t>const </a:t>
            </a:r>
            <a:r>
              <a:rPr dirty="0" err="1"/>
              <a:t>botaoDia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('#</a:t>
            </a:r>
            <a:r>
              <a:rPr dirty="0" err="1"/>
              <a:t>btnDia</a:t>
            </a:r>
            <a:r>
              <a:rPr dirty="0"/>
              <a:t>');</a:t>
            </a:r>
            <a:br>
              <a:rPr dirty="0"/>
            </a:br>
            <a:r>
              <a:rPr dirty="0"/>
              <a:t>const </a:t>
            </a:r>
            <a:r>
              <a:rPr dirty="0" err="1"/>
              <a:t>areaResultado</a:t>
            </a:r>
            <a:r>
              <a:rPr dirty="0"/>
              <a:t> = </a:t>
            </a:r>
            <a:r>
              <a:rPr dirty="0" err="1"/>
              <a:t>document.querySelector</a:t>
            </a:r>
            <a:r>
              <a:rPr dirty="0"/>
              <a:t>('#</a:t>
            </a:r>
            <a:r>
              <a:rPr dirty="0" err="1"/>
              <a:t>painelResultado</a:t>
            </a:r>
            <a:r>
              <a:rPr dirty="0"/>
              <a:t>');</a:t>
            </a:r>
            <a:br>
              <a:rPr dirty="0"/>
            </a:br>
            <a:br>
              <a:rPr dirty="0"/>
            </a:br>
            <a:r>
              <a:rPr dirty="0"/>
              <a:t>// PASSO 2 &amp; 3: ESCUTAR E MODIFICAR</a:t>
            </a:r>
            <a:br>
              <a:rPr dirty="0"/>
            </a:br>
            <a:r>
              <a:rPr dirty="0" err="1"/>
              <a:t>botaoDia.addEventListener</a:t>
            </a:r>
            <a:r>
              <a:rPr dirty="0"/>
              <a:t>('click', function() {</a:t>
            </a:r>
            <a:br>
              <a:rPr dirty="0"/>
            </a:br>
            <a:r>
              <a:rPr dirty="0"/>
              <a:t>    let </a:t>
            </a:r>
            <a:r>
              <a:rPr dirty="0" err="1"/>
              <a:t>nomeUsuario</a:t>
            </a:r>
            <a:r>
              <a:rPr dirty="0"/>
              <a:t> = </a:t>
            </a:r>
            <a:r>
              <a:rPr dirty="0" err="1"/>
              <a:t>caixaTexto.value</a:t>
            </a:r>
            <a:r>
              <a:rPr dirty="0"/>
              <a:t>; // </a:t>
            </a:r>
            <a:r>
              <a:rPr dirty="0" err="1"/>
              <a:t>Pega</a:t>
            </a:r>
            <a:r>
              <a:rPr dirty="0"/>
              <a:t> o </a:t>
            </a:r>
            <a:r>
              <a:rPr dirty="0" err="1"/>
              <a:t>texto</a:t>
            </a:r>
            <a:r>
              <a:rPr dirty="0"/>
              <a:t> do input</a:t>
            </a:r>
            <a:br>
              <a:rPr dirty="0"/>
            </a:br>
            <a:br>
              <a:rPr dirty="0"/>
            </a:br>
            <a:r>
              <a:rPr dirty="0"/>
              <a:t>    if (</a:t>
            </a:r>
            <a:r>
              <a:rPr dirty="0" err="1"/>
              <a:t>nomeUsuario</a:t>
            </a:r>
            <a:r>
              <a:rPr dirty="0"/>
              <a:t> === "") {</a:t>
            </a:r>
            <a:br>
              <a:rPr dirty="0"/>
            </a:br>
            <a:r>
              <a:rPr dirty="0"/>
              <a:t>        </a:t>
            </a:r>
            <a:r>
              <a:rPr dirty="0" err="1"/>
              <a:t>nomeUsuario</a:t>
            </a:r>
            <a:r>
              <a:rPr dirty="0"/>
              <a:t> = "</a:t>
            </a:r>
            <a:r>
              <a:rPr dirty="0" err="1"/>
              <a:t>Visitante</a:t>
            </a:r>
            <a:r>
              <a:rPr dirty="0"/>
              <a:t>";</a:t>
            </a:r>
            <a:br>
              <a:rPr dirty="0"/>
            </a:br>
            <a:r>
              <a:rPr dirty="0"/>
              <a:t>    }</a:t>
            </a:r>
            <a:br>
              <a:rPr dirty="0"/>
            </a:br>
            <a:br>
              <a:rPr dirty="0"/>
            </a:br>
            <a:r>
              <a:rPr dirty="0"/>
              <a:t>    // </a:t>
            </a:r>
            <a:r>
              <a:rPr dirty="0" err="1"/>
              <a:t>Injeta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puro com total </a:t>
            </a:r>
            <a:r>
              <a:rPr dirty="0" err="1"/>
              <a:t>segurança</a:t>
            </a:r>
            <a:br>
              <a:rPr dirty="0"/>
            </a:br>
            <a:r>
              <a:rPr dirty="0"/>
              <a:t>    </a:t>
            </a:r>
            <a:r>
              <a:rPr dirty="0" err="1"/>
              <a:t>areaResultado.textContent</a:t>
            </a:r>
            <a:r>
              <a:rPr dirty="0"/>
              <a:t> = `☀️ Bom </a:t>
            </a:r>
            <a:r>
              <a:rPr dirty="0" err="1"/>
              <a:t>dia</a:t>
            </a:r>
            <a:r>
              <a:rPr dirty="0"/>
              <a:t>, ${</a:t>
            </a:r>
            <a:r>
              <a:rPr dirty="0" err="1"/>
              <a:t>nomeUsuario</a:t>
            </a:r>
            <a:r>
              <a:rPr dirty="0"/>
              <a:t>}!`;</a:t>
            </a:r>
            <a:br>
              <a:rPr dirty="0"/>
            </a:br>
            <a:r>
              <a:rPr dirty="0"/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t>Conceitos-Chave (Para Fixar)</a:t>
            </a:r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t>Diferenças essenciais que evitam bugs na programação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7DF1E"/>
                </a:solidFill>
                <a:latin typeface="Arial"/>
              </a:defRPr>
            </a:pPr>
            <a:r>
              <a:t>document.querySelector('#id')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Usa obrigatoriamente a hashtag '#' para indicar que busca um ID do HTML.</a:t>
            </a:r>
            <a:br/>
            <a:endParaRPr/>
          </a:p>
          <a:p>
            <a:pPr>
              <a:defRPr sz="2000" b="1">
                <a:solidFill>
                  <a:srgbClr val="F7DF1E"/>
                </a:solidFill>
                <a:latin typeface="Arial"/>
              </a:defRPr>
            </a:pPr>
            <a:r>
              <a:t>.value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Propriedade usada ÚNICA E EXCLUSIVAMENTE para ler ou escrever dados dentro de campos de entrada (&lt;input&gt;).</a:t>
            </a:r>
            <a:br/>
            <a:endParaRPr/>
          </a:p>
          <a:p>
            <a:pPr>
              <a:defRPr sz="2000" b="1">
                <a:solidFill>
                  <a:srgbClr val="F7DF1E"/>
                </a:solidFill>
                <a:latin typeface="Arial"/>
              </a:defRPr>
            </a:pPr>
            <a:r>
              <a:t>.textContent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Propriedade usada para alterar o texto interno visível de tags como &lt;div&gt;, &lt;p&gt;, &lt;span&gt; ou &lt;h1&gt;.</a:t>
            </a:r>
            <a:br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rPr dirty="0"/>
              <a:t>🛑 </a:t>
            </a:r>
            <a:r>
              <a:rPr dirty="0" err="1"/>
              <a:t>Erros</a:t>
            </a:r>
            <a:r>
              <a:rPr dirty="0"/>
              <a:t> </a:t>
            </a:r>
            <a:r>
              <a:rPr dirty="0" err="1"/>
              <a:t>Comuns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Bancada</a:t>
            </a:r>
            <a:endParaRPr dirty="0"/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rPr dirty="0"/>
              <a:t>Fique de </a:t>
            </a:r>
            <a:r>
              <a:rPr dirty="0" err="1"/>
              <a:t>olho</a:t>
            </a:r>
            <a:r>
              <a:rPr dirty="0"/>
              <a:t> </a:t>
            </a:r>
            <a:r>
              <a:rPr dirty="0" err="1"/>
              <a:t>nestes</a:t>
            </a:r>
            <a:r>
              <a:rPr dirty="0"/>
              <a:t> 3 </a:t>
            </a:r>
            <a:r>
              <a:rPr dirty="0" err="1"/>
              <a:t>deslizes</a:t>
            </a:r>
            <a:r>
              <a:rPr dirty="0"/>
              <a:t> </a:t>
            </a:r>
            <a:r>
              <a:rPr dirty="0" err="1"/>
              <a:t>clássicos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o </a:t>
            </a:r>
            <a:r>
              <a:rPr dirty="0" err="1"/>
              <a:t>laboratório</a:t>
            </a:r>
            <a:r>
              <a:rPr dirty="0"/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464"/>
                </a:solidFill>
                <a:latin typeface="Arial"/>
              </a:defRPr>
            </a:pPr>
            <a:r>
              <a:t>Esquecer o '#' no querySelector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Escrever querySelector('campoNome'). O JS não acha o elemento e retorna 'null'.</a:t>
            </a:r>
            <a:br/>
            <a:endParaRPr/>
          </a:p>
          <a:p>
            <a:pPr>
              <a:defRPr sz="2000" b="1">
                <a:solidFill>
                  <a:srgbClr val="FF6464"/>
                </a:solidFill>
                <a:latin typeface="Arial"/>
              </a:defRPr>
            </a:pPr>
            <a:r>
              <a:t>Colocar parênteses no .value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Escrever .value(). O correto é apenas .value, pois é um atributo/propriedade, não uma função.</a:t>
            </a:r>
            <a:br/>
            <a:endParaRPr/>
          </a:p>
          <a:p>
            <a:pPr>
              <a:defRPr sz="2000" b="1">
                <a:solidFill>
                  <a:srgbClr val="FF6464"/>
                </a:solidFill>
                <a:latin typeface="Arial"/>
              </a:defRPr>
            </a:pPr>
            <a:r>
              <a:t>Esquecer de salvar os arquivos</a:t>
            </a:r>
          </a:p>
          <a:p>
            <a:pPr>
              <a:defRPr sz="1600">
                <a:solidFill>
                  <a:srgbClr val="F0F0F0"/>
                </a:solidFill>
                <a:latin typeface="Arial"/>
              </a:defRPr>
            </a:pPr>
            <a:r>
              <a:t>O aluno altera o JS, testa no navegador e nada muda. Verifique se há uma bolinha branca na aba do VS Code.</a:t>
            </a:r>
            <a:br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0F0F0"/>
                </a:solidFill>
                <a:latin typeface="Arial"/>
              </a:defRPr>
            </a:pPr>
            <a:r>
              <a:rPr dirty="0"/>
              <a:t>🎯 </a:t>
            </a:r>
            <a:r>
              <a:rPr dirty="0" err="1"/>
              <a:t>Desafio</a:t>
            </a:r>
            <a:r>
              <a:rPr dirty="0"/>
              <a:t> </a:t>
            </a:r>
            <a:r>
              <a:rPr dirty="0" err="1"/>
              <a:t>Prático</a:t>
            </a:r>
            <a:endParaRPr dirty="0"/>
          </a:p>
          <a:p>
            <a:pPr>
              <a:defRPr sz="1800">
                <a:solidFill>
                  <a:srgbClr val="B4B4B4"/>
                </a:solidFill>
                <a:latin typeface="Arial"/>
              </a:defRPr>
            </a:pPr>
            <a:r>
              <a:rPr dirty="0"/>
              <a:t>Hora de </a:t>
            </a:r>
            <a:r>
              <a:rPr dirty="0" err="1"/>
              <a:t>colocar</a:t>
            </a:r>
            <a:r>
              <a:rPr dirty="0"/>
              <a:t> a </a:t>
            </a:r>
            <a:r>
              <a:rPr dirty="0" err="1"/>
              <a:t>turma</a:t>
            </a:r>
            <a:r>
              <a:rPr dirty="0"/>
              <a:t> para </a:t>
            </a:r>
            <a:r>
              <a:rPr dirty="0" err="1"/>
              <a:t>construir</a:t>
            </a:r>
            <a:r>
              <a:rPr dirty="0"/>
              <a:t> de forma </a:t>
            </a:r>
            <a:r>
              <a:rPr dirty="0" err="1"/>
              <a:t>independente</a:t>
            </a:r>
            <a:r>
              <a:rPr dirty="0"/>
              <a:t>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7DF1E"/>
                </a:solidFill>
                <a:latin typeface="Arial"/>
              </a:defRPr>
            </a:pPr>
            <a:r>
              <a:rPr dirty="0"/>
              <a:t>O </a:t>
            </a:r>
            <a:r>
              <a:rPr dirty="0" err="1"/>
              <a:t>Enunciado</a:t>
            </a:r>
            <a:r>
              <a:rPr dirty="0"/>
              <a:t>:</a:t>
            </a:r>
          </a:p>
          <a:p>
            <a:pPr>
              <a:defRPr sz="2000">
                <a:solidFill>
                  <a:srgbClr val="F0F0F0"/>
                </a:solidFill>
                <a:latin typeface="Arial"/>
              </a:defRPr>
            </a:pPr>
            <a:r>
              <a:rPr dirty="0"/>
              <a:t>"</a:t>
            </a:r>
            <a:r>
              <a:rPr dirty="0" err="1"/>
              <a:t>Adicionem</a:t>
            </a:r>
            <a:r>
              <a:rPr dirty="0"/>
              <a:t> um </a:t>
            </a:r>
            <a:r>
              <a:rPr dirty="0" err="1"/>
              <a:t>terceiro</a:t>
            </a:r>
            <a:r>
              <a:rPr dirty="0"/>
              <a:t> </a:t>
            </a:r>
            <a:r>
              <a:rPr dirty="0" err="1"/>
              <a:t>botão</a:t>
            </a:r>
            <a:r>
              <a:rPr dirty="0"/>
              <a:t> no HTML com o id='</a:t>
            </a:r>
            <a:r>
              <a:rPr dirty="0" err="1"/>
              <a:t>btnSair</a:t>
            </a:r>
            <a:r>
              <a:rPr dirty="0"/>
              <a:t>'.</a:t>
            </a:r>
            <a:br>
              <a:rPr dirty="0"/>
            </a:br>
            <a:r>
              <a:rPr dirty="0"/>
              <a:t>No </a:t>
            </a:r>
            <a:r>
              <a:rPr dirty="0" err="1"/>
              <a:t>arquivo</a:t>
            </a:r>
            <a:r>
              <a:rPr dirty="0"/>
              <a:t> JavaScript, </a:t>
            </a:r>
            <a:r>
              <a:rPr dirty="0" err="1"/>
              <a:t>criem</a:t>
            </a:r>
            <a:r>
              <a:rPr dirty="0"/>
              <a:t> um </a:t>
            </a:r>
            <a:r>
              <a:rPr dirty="0" err="1"/>
              <a:t>escutador</a:t>
            </a:r>
            <a:r>
              <a:rPr dirty="0"/>
              <a:t> para </a:t>
            </a:r>
            <a:r>
              <a:rPr dirty="0" err="1"/>
              <a:t>esse</a:t>
            </a:r>
            <a:r>
              <a:rPr dirty="0"/>
              <a:t> </a:t>
            </a:r>
            <a:r>
              <a:rPr dirty="0" err="1"/>
              <a:t>botão</a:t>
            </a:r>
            <a:r>
              <a:rPr dirty="0"/>
              <a:t>.</a:t>
            </a:r>
            <a:br>
              <a:rPr dirty="0"/>
            </a:b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ele</a:t>
            </a:r>
            <a:r>
              <a:rPr dirty="0"/>
              <a:t> for </a:t>
            </a:r>
            <a:r>
              <a:rPr dirty="0" err="1"/>
              <a:t>clicado</a:t>
            </a:r>
            <a:r>
              <a:rPr dirty="0"/>
              <a:t>,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ler</a:t>
            </a:r>
            <a:r>
              <a:rPr dirty="0"/>
              <a:t> o </a:t>
            </a:r>
            <a:r>
              <a:rPr dirty="0" err="1"/>
              <a:t>nome</a:t>
            </a:r>
            <a:r>
              <a:rPr dirty="0"/>
              <a:t> do campo e </a:t>
            </a:r>
            <a:r>
              <a:rPr dirty="0" err="1"/>
              <a:t>injetar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 a </a:t>
            </a:r>
            <a:r>
              <a:rPr dirty="0" err="1"/>
              <a:t>mensagem</a:t>
            </a:r>
            <a:r>
              <a:rPr dirty="0"/>
              <a:t>:</a:t>
            </a:r>
            <a:br>
              <a:rPr dirty="0"/>
            </a:br>
            <a:r>
              <a:rPr dirty="0"/>
              <a:t>👋 </a:t>
            </a:r>
            <a:r>
              <a:rPr dirty="0" err="1"/>
              <a:t>Tchau</a:t>
            </a:r>
            <a:r>
              <a:rPr dirty="0"/>
              <a:t>, [Nome]! </a:t>
            </a:r>
            <a:r>
              <a:rPr dirty="0" err="1"/>
              <a:t>Até</a:t>
            </a:r>
            <a:r>
              <a:rPr dirty="0"/>
              <a:t> a </a:t>
            </a:r>
            <a:r>
              <a:rPr dirty="0" err="1"/>
              <a:t>próxima</a:t>
            </a:r>
            <a:r>
              <a:rPr dirty="0"/>
              <a:t> aula!"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9FAFB"/>
                </a:solidFill>
                <a:latin typeface="Arial"/>
              </a:defRPr>
            </a:pPr>
            <a:r>
              <a:t>Além do textContent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A jornada para tornar suas interfaces web dinâmicas e interativas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53035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BBF24"/>
                </a:solidFill>
                <a:latin typeface="Arial"/>
              </a:defRPr>
            </a:pPr>
            <a:r>
              <a:rPr dirty="0"/>
              <a:t>O que </a:t>
            </a:r>
            <a:r>
              <a:rPr dirty="0" err="1"/>
              <a:t>vimos</a:t>
            </a:r>
            <a:r>
              <a:rPr dirty="0"/>
              <a:t> </a:t>
            </a:r>
            <a:r>
              <a:rPr dirty="0" err="1"/>
              <a:t>ontem</a:t>
            </a:r>
            <a:r>
              <a:rPr dirty="0"/>
              <a:t>?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textContent</a:t>
            </a:r>
            <a:r>
              <a:rPr dirty="0"/>
              <a:t> altera </a:t>
            </a:r>
            <a:r>
              <a:rPr dirty="0" err="1"/>
              <a:t>apenas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puro.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Excelente</a:t>
            </a:r>
            <a:r>
              <a:rPr dirty="0"/>
              <a:t> para </a:t>
            </a:r>
            <a:r>
              <a:rPr dirty="0" err="1"/>
              <a:t>segurança</a:t>
            </a:r>
            <a:r>
              <a:rPr dirty="0"/>
              <a:t> (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injeção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Limitado</a:t>
            </a:r>
            <a:r>
              <a:rPr dirty="0"/>
              <a:t>: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estiliza</a:t>
            </a:r>
            <a:r>
              <a:rPr dirty="0"/>
              <a:t> 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</a:t>
            </a:r>
            <a:r>
              <a:rPr dirty="0" err="1"/>
              <a:t>novas</a:t>
            </a:r>
            <a:r>
              <a:rPr dirty="0"/>
              <a:t> </a:t>
            </a:r>
            <a:r>
              <a:rPr dirty="0" err="1"/>
              <a:t>estruturas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endParaRPr lang="pt-BR" dirty="0"/>
          </a:p>
          <a:p>
            <a:r>
              <a:rPr lang="pt-BR" sz="1400" dirty="0">
                <a:solidFill>
                  <a:schemeClr val="bg1"/>
                </a:solidFill>
              </a:rPr>
              <a:t>Vamos </a:t>
            </a:r>
            <a:r>
              <a:rPr lang="pt-BR" sz="1400" dirty="0" err="1">
                <a:solidFill>
                  <a:schemeClr val="bg1"/>
                </a:solidFill>
              </a:rPr>
              <a:t>add</a:t>
            </a:r>
            <a:r>
              <a:rPr lang="pt-BR" sz="1400" dirty="0">
                <a:solidFill>
                  <a:schemeClr val="bg1"/>
                </a:solidFill>
              </a:rPr>
              <a:t> ao nosso HTML:</a:t>
            </a:r>
            <a:br>
              <a:rPr lang="pt-BR" sz="1400" dirty="0">
                <a:solidFill>
                  <a:schemeClr val="bg1"/>
                </a:solidFill>
                <a:latin typeface="Consolas"/>
              </a:rPr>
            </a:br>
            <a:br>
              <a:rPr lang="pt-BR" sz="1400" dirty="0">
                <a:solidFill>
                  <a:srgbClr val="4EC9B0"/>
                </a:solidFill>
                <a:latin typeface="Consolas"/>
              </a:rPr>
            </a:br>
            <a:r>
              <a:rPr lang="es-ES" sz="1400" dirty="0">
                <a:solidFill>
                  <a:srgbClr val="4EC9B0"/>
                </a:solidFill>
                <a:latin typeface="Consolas"/>
              </a:rPr>
              <a:t>    &lt;</a:t>
            </a:r>
            <a:r>
              <a:rPr lang="es-ES" sz="1400" dirty="0" err="1">
                <a:solidFill>
                  <a:srgbClr val="4EC9B0"/>
                </a:solidFill>
                <a:latin typeface="Consolas"/>
              </a:rPr>
              <a:t>div</a:t>
            </a:r>
            <a:r>
              <a:rPr lang="es-ES" sz="1400" dirty="0">
                <a:solidFill>
                  <a:srgbClr val="4EC9B0"/>
                </a:solidFill>
                <a:latin typeface="Consolas"/>
              </a:rPr>
              <a:t>&gt;</a:t>
            </a:r>
          </a:p>
          <a:p>
            <a:r>
              <a:rPr lang="es-ES" sz="1400" dirty="0">
                <a:solidFill>
                  <a:srgbClr val="4EC9B0"/>
                </a:solidFill>
                <a:latin typeface="Consolas"/>
              </a:rPr>
              <a:t>        &lt;p id="elemento"&gt;</a:t>
            </a:r>
          </a:p>
          <a:p>
            <a:r>
              <a:rPr lang="es-ES" sz="1400" dirty="0">
                <a:solidFill>
                  <a:srgbClr val="4EC9B0"/>
                </a:solidFill>
                <a:latin typeface="Consolas"/>
              </a:rPr>
              <a:t>        &lt;/p&gt;</a:t>
            </a:r>
          </a:p>
          <a:p>
            <a:r>
              <a:rPr lang="es-ES" sz="1400" dirty="0">
                <a:solidFill>
                  <a:srgbClr val="4EC9B0"/>
                </a:solidFill>
                <a:latin typeface="Consolas"/>
              </a:rPr>
              <a:t>    &lt;/</a:t>
            </a:r>
            <a:r>
              <a:rPr lang="es-ES" sz="1400" dirty="0" err="1">
                <a:solidFill>
                  <a:srgbClr val="4EC9B0"/>
                </a:solidFill>
                <a:latin typeface="Consolas"/>
              </a:rPr>
              <a:t>div</a:t>
            </a:r>
            <a:r>
              <a:rPr lang="es-ES" sz="1400" dirty="0">
                <a:solidFill>
                  <a:srgbClr val="4EC9B0"/>
                </a:solidFill>
                <a:latin typeface="Consolas"/>
              </a:rPr>
              <a:t>&gt;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309360" y="20116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0B981"/>
                </a:solidFill>
                <a:latin typeface="Arial"/>
              </a:defRPr>
            </a:pPr>
            <a:r>
              <a:t>O próximo passo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• Manipular tags completas e formatações.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• Controlar o visual (CSS) em tempo real.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• Criar componentes inteiros de forma dinâmica.</a:t>
            </a:r>
          </a:p>
          <a:p>
            <a:pPr>
              <a:spcAft>
                <a:spcPts val="10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• Gerenciar o estado da interface com classes.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9FAFB"/>
                </a:solidFill>
                <a:latin typeface="Arial"/>
              </a:defRPr>
            </a:pPr>
            <a:r>
              <a:t>1. Inserindo Estruturas com innerHTML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Diferenciando texto puro de marcação interpretada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9CA3AF"/>
                </a:solidFill>
                <a:latin typeface="Arial"/>
              </a:defRPr>
            </a:pPr>
            <a:r>
              <a:rPr dirty="0"/>
              <a:t>Como </a:t>
            </a:r>
            <a:r>
              <a:rPr dirty="0" err="1"/>
              <a:t>textContent</a:t>
            </a:r>
            <a:r>
              <a:rPr dirty="0"/>
              <a:t> </a:t>
            </a:r>
            <a:r>
              <a:rPr dirty="0" err="1"/>
              <a:t>trata</a:t>
            </a:r>
            <a:r>
              <a:rPr dirty="0"/>
              <a:t> tags:</a:t>
            </a:r>
          </a:p>
          <a:p>
            <a:pPr>
              <a:spcAft>
                <a:spcPts val="1400"/>
              </a:spcAft>
              <a:defRPr sz="1400">
                <a:solidFill>
                  <a:srgbClr val="F9FAFB"/>
                </a:solidFill>
                <a:latin typeface="Consolas"/>
              </a:defRPr>
            </a:pPr>
            <a:r>
              <a:rPr dirty="0" err="1"/>
              <a:t>el.textContent</a:t>
            </a:r>
            <a:r>
              <a:rPr dirty="0"/>
              <a:t> = '&lt;strong&gt;</a:t>
            </a:r>
            <a:r>
              <a:rPr dirty="0" err="1"/>
              <a:t>Olá</a:t>
            </a:r>
            <a:r>
              <a:rPr dirty="0"/>
              <a:t>&lt;/strong&gt;';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:</a:t>
            </a:r>
            <a:br>
              <a:rPr dirty="0"/>
            </a:br>
            <a:r>
              <a:rPr dirty="0"/>
              <a:t>&lt;strong&gt;</a:t>
            </a:r>
            <a:r>
              <a:rPr dirty="0" err="1"/>
              <a:t>Olá</a:t>
            </a:r>
            <a:r>
              <a:rPr dirty="0"/>
              <a:t>&lt;/strong&gt; (</a:t>
            </a:r>
            <a:r>
              <a:rPr dirty="0" err="1"/>
              <a:t>Texto</a:t>
            </a:r>
            <a:r>
              <a:rPr dirty="0"/>
              <a:t> literal)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5303520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BBF24"/>
                </a:solidFill>
                <a:latin typeface="Arial"/>
              </a:defRPr>
            </a:pPr>
            <a:r>
              <a:rPr dirty="0"/>
              <a:t>Como </a:t>
            </a:r>
            <a:r>
              <a:rPr dirty="0" err="1"/>
              <a:t>innerHTML</a:t>
            </a:r>
            <a:r>
              <a:rPr dirty="0"/>
              <a:t> </a:t>
            </a:r>
            <a:r>
              <a:rPr dirty="0" err="1"/>
              <a:t>trata</a:t>
            </a:r>
            <a:r>
              <a:rPr dirty="0"/>
              <a:t> tags:</a:t>
            </a:r>
          </a:p>
          <a:p>
            <a:pPr>
              <a:spcAft>
                <a:spcPts val="1400"/>
              </a:spcAft>
              <a:defRPr sz="1400">
                <a:solidFill>
                  <a:srgbClr val="FBBF24"/>
                </a:solidFill>
                <a:latin typeface="Consolas"/>
              </a:defRPr>
            </a:pPr>
            <a:r>
              <a:rPr dirty="0" err="1"/>
              <a:t>el.innerHTML</a:t>
            </a:r>
            <a:r>
              <a:rPr dirty="0"/>
              <a:t> = '&lt;strong&gt;</a:t>
            </a:r>
            <a:r>
              <a:rPr dirty="0" err="1"/>
              <a:t>Olá</a:t>
            </a:r>
            <a:r>
              <a:rPr dirty="0"/>
              <a:t>&lt;/strong&gt;';</a:t>
            </a:r>
          </a:p>
          <a:p>
            <a:pPr>
              <a:spcAft>
                <a:spcPts val="2000"/>
              </a:spcAft>
              <a:defRPr sz="1400">
                <a:solidFill>
                  <a:srgbClr val="F9FAFB"/>
                </a:solidFill>
                <a:latin typeface="Arial"/>
              </a:defRPr>
            </a:pP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:</a:t>
            </a:r>
            <a:br>
              <a:rPr dirty="0"/>
            </a:br>
            <a:r>
              <a:rPr dirty="0" err="1"/>
              <a:t>Olá</a:t>
            </a:r>
            <a:r>
              <a:rPr dirty="0"/>
              <a:t> (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negrito</a:t>
            </a:r>
            <a:r>
              <a:rPr dirty="0"/>
              <a:t> real)</a:t>
            </a:r>
          </a:p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rPr dirty="0"/>
              <a:t>⚠️ ATENÇÃO: </a:t>
            </a:r>
            <a:r>
              <a:rPr dirty="0" err="1"/>
              <a:t>Nunca</a:t>
            </a:r>
            <a:r>
              <a:rPr dirty="0"/>
              <a:t> use com dados </a:t>
            </a:r>
            <a:r>
              <a:rPr dirty="0" err="1"/>
              <a:t>diretos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(</a:t>
            </a:r>
            <a:r>
              <a:rPr dirty="0" err="1"/>
              <a:t>Risco</a:t>
            </a:r>
            <a:r>
              <a:rPr dirty="0"/>
              <a:t> de </a:t>
            </a:r>
            <a:r>
              <a:rPr dirty="0" err="1"/>
              <a:t>Segurança</a:t>
            </a:r>
            <a:r>
              <a:rPr dirty="0"/>
              <a:t>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9FAFB"/>
                </a:solidFill>
                <a:latin typeface="Arial"/>
              </a:defRPr>
            </a:pPr>
            <a:r>
              <a:t>2. Estilos Inline vs Alternância de Classes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A sutil diferença entre controlar design ou comportamento no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530352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9FAFB"/>
                </a:solidFill>
                <a:latin typeface="Arial"/>
              </a:defRPr>
            </a:pPr>
            <a:r>
              <a:rPr dirty="0" err="1"/>
              <a:t>Modificação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(.style)</a:t>
            </a:r>
          </a:p>
          <a:p>
            <a:pPr>
              <a:spcAft>
                <a:spcPts val="1400"/>
              </a:spcAft>
              <a:defRPr sz="1400">
                <a:solidFill>
                  <a:srgbClr val="9CA3AF"/>
                </a:solidFill>
                <a:latin typeface="Consolas"/>
              </a:defRPr>
            </a:pPr>
            <a:r>
              <a:rPr dirty="0" err="1"/>
              <a:t>el.style.backgroundColor</a:t>
            </a:r>
            <a:r>
              <a:rPr dirty="0"/>
              <a:t> = 'red';</a:t>
            </a:r>
            <a:br>
              <a:rPr dirty="0"/>
            </a:br>
            <a:r>
              <a:rPr dirty="0" err="1"/>
              <a:t>el.style.fontSize</a:t>
            </a:r>
            <a:r>
              <a:rPr dirty="0"/>
              <a:t> = '20px';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Injeta</a:t>
            </a:r>
            <a:r>
              <a:rPr dirty="0"/>
              <a:t> CSS </a:t>
            </a:r>
            <a:r>
              <a:rPr dirty="0" err="1"/>
              <a:t>direto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tag (inline).</a:t>
            </a:r>
            <a:br>
              <a:rPr dirty="0"/>
            </a:br>
            <a:r>
              <a:rPr dirty="0">
                <a:solidFill>
                  <a:srgbClr val="1E1E1E"/>
                </a:solidFill>
              </a:rPr>
              <a:t>• </a:t>
            </a:r>
            <a:r>
              <a:rPr dirty="0" err="1">
                <a:solidFill>
                  <a:srgbClr val="1E1E1E"/>
                </a:solidFill>
              </a:rPr>
              <a:t>Transforma</a:t>
            </a:r>
            <a:r>
              <a:rPr dirty="0">
                <a:solidFill>
                  <a:srgbClr val="1E1E1E"/>
                </a:solidFill>
              </a:rPr>
              <a:t> </a:t>
            </a:r>
            <a:r>
              <a:rPr dirty="0" err="1">
                <a:solidFill>
                  <a:srgbClr val="1E1E1E"/>
                </a:solidFill>
              </a:rPr>
              <a:t>propriedades</a:t>
            </a:r>
            <a:r>
              <a:rPr dirty="0">
                <a:solidFill>
                  <a:srgbClr val="1E1E1E"/>
                </a:solidFill>
              </a:rPr>
              <a:t> com </a:t>
            </a:r>
            <a:r>
              <a:rPr dirty="0" err="1">
                <a:solidFill>
                  <a:srgbClr val="1E1E1E"/>
                </a:solidFill>
              </a:rPr>
              <a:t>hífen</a:t>
            </a:r>
            <a:r>
              <a:rPr dirty="0">
                <a:solidFill>
                  <a:srgbClr val="1E1E1E"/>
                </a:solidFill>
              </a:rPr>
              <a:t> </a:t>
            </a:r>
            <a:r>
              <a:rPr dirty="0" err="1">
                <a:solidFill>
                  <a:srgbClr val="1E1E1E"/>
                </a:solidFill>
              </a:rPr>
              <a:t>em</a:t>
            </a:r>
            <a:r>
              <a:rPr dirty="0">
                <a:solidFill>
                  <a:srgbClr val="1E1E1E"/>
                </a:solidFill>
              </a:rPr>
              <a:t> camelCase.</a:t>
            </a:r>
            <a:br>
              <a:rPr dirty="0">
                <a:solidFill>
                  <a:srgbClr val="1E1E1E"/>
                </a:solidFill>
              </a:rPr>
            </a:br>
            <a:r>
              <a:rPr dirty="0"/>
              <a:t>• Ideal para </a:t>
            </a:r>
            <a:r>
              <a:rPr dirty="0" err="1"/>
              <a:t>valores</a:t>
            </a:r>
            <a:r>
              <a:rPr dirty="0"/>
              <a:t> </a:t>
            </a:r>
            <a:r>
              <a:rPr dirty="0" err="1"/>
              <a:t>dinâmicos</a:t>
            </a:r>
            <a:r>
              <a:rPr dirty="0"/>
              <a:t> </a:t>
            </a:r>
            <a:r>
              <a:rPr dirty="0" err="1"/>
              <a:t>calculados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hora (ex: </a:t>
            </a:r>
            <a:r>
              <a:rPr dirty="0" err="1"/>
              <a:t>posição</a:t>
            </a:r>
            <a:r>
              <a:rPr dirty="0"/>
              <a:t> do mouse).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(.</a:t>
            </a:r>
            <a:r>
              <a:rPr dirty="0" err="1"/>
              <a:t>classList</a:t>
            </a:r>
            <a:r>
              <a:rPr dirty="0"/>
              <a:t>)</a:t>
            </a:r>
          </a:p>
          <a:p>
            <a:pPr>
              <a:spcAft>
                <a:spcPts val="1400"/>
              </a:spcAft>
              <a:defRPr sz="1400">
                <a:solidFill>
                  <a:srgbClr val="10B981"/>
                </a:solidFill>
                <a:latin typeface="Consolas"/>
              </a:defRPr>
            </a:pPr>
            <a:r>
              <a:rPr dirty="0" err="1"/>
              <a:t>el.classList.add</a:t>
            </a:r>
            <a:r>
              <a:rPr dirty="0"/>
              <a:t>('modo-</a:t>
            </a:r>
            <a:r>
              <a:rPr dirty="0" err="1"/>
              <a:t>escuro</a:t>
            </a:r>
            <a:r>
              <a:rPr dirty="0"/>
              <a:t>');</a:t>
            </a:r>
            <a:br>
              <a:rPr dirty="0"/>
            </a:br>
            <a:r>
              <a:rPr dirty="0" err="1"/>
              <a:t>el.classList.toggle</a:t>
            </a:r>
            <a:r>
              <a:rPr dirty="0"/>
              <a:t>('</a:t>
            </a:r>
            <a:r>
              <a:rPr dirty="0" err="1"/>
              <a:t>ativo</a:t>
            </a:r>
            <a:r>
              <a:rPr dirty="0"/>
              <a:t>');</a:t>
            </a:r>
          </a:p>
          <a:p>
            <a:pPr>
              <a:defRPr sz="1400">
                <a:solidFill>
                  <a:srgbClr val="F9FAFB"/>
                </a:solidFill>
                <a:latin typeface="Arial"/>
              </a:defRPr>
            </a:pPr>
            <a:r>
              <a:rPr dirty="0"/>
              <a:t>• Liga e </a:t>
            </a:r>
            <a:r>
              <a:rPr dirty="0" err="1"/>
              <a:t>desliga</a:t>
            </a:r>
            <a:r>
              <a:rPr dirty="0"/>
              <a:t> classes </a:t>
            </a:r>
            <a:r>
              <a:rPr dirty="0" err="1"/>
              <a:t>declaradas</a:t>
            </a:r>
            <a:r>
              <a:rPr dirty="0"/>
              <a:t> no CSS.</a:t>
            </a:r>
            <a:br>
              <a:rPr dirty="0"/>
            </a:br>
            <a:r>
              <a:rPr dirty="0"/>
              <a:t>• </a:t>
            </a:r>
            <a:r>
              <a:rPr dirty="0" err="1"/>
              <a:t>Mantém</a:t>
            </a:r>
            <a:r>
              <a:rPr dirty="0"/>
              <a:t> a </a:t>
            </a:r>
            <a:r>
              <a:rPr dirty="0" err="1"/>
              <a:t>separação</a:t>
            </a:r>
            <a:r>
              <a:rPr dirty="0"/>
              <a:t>: JS </a:t>
            </a:r>
            <a:r>
              <a:rPr dirty="0" err="1"/>
              <a:t>cuida</a:t>
            </a:r>
            <a:r>
              <a:rPr dirty="0"/>
              <a:t> da </a:t>
            </a:r>
            <a:r>
              <a:rPr dirty="0" err="1"/>
              <a:t>lógica</a:t>
            </a:r>
            <a:r>
              <a:rPr dirty="0"/>
              <a:t>, CSS do visual.</a:t>
            </a:r>
            <a:br>
              <a:rPr dirty="0"/>
            </a:br>
            <a:r>
              <a:rPr dirty="0"/>
              <a:t>• </a:t>
            </a:r>
            <a:r>
              <a:rPr dirty="0" err="1"/>
              <a:t>Muito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limpo</a:t>
            </a:r>
            <a:r>
              <a:rPr dirty="0"/>
              <a:t>, </a:t>
            </a:r>
            <a:r>
              <a:rPr dirty="0" err="1"/>
              <a:t>performático</a:t>
            </a:r>
            <a:r>
              <a:rPr dirty="0"/>
              <a:t> e </a:t>
            </a:r>
            <a:r>
              <a:rPr dirty="0" err="1"/>
              <a:t>fácil</a:t>
            </a:r>
            <a:r>
              <a:rPr dirty="0"/>
              <a:t> de </a:t>
            </a:r>
            <a:r>
              <a:rPr dirty="0" err="1"/>
              <a:t>manter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9FAFB"/>
                </a:solidFill>
                <a:latin typeface="Arial"/>
              </a:defRPr>
            </a:pPr>
            <a:r>
              <a:t>3. Criação Dinâmica de Elementos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Como construir novos nós na árvore do DOM do absoluto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9CA3AF"/>
                </a:solidFill>
                <a:latin typeface="Arial"/>
              </a:defRPr>
            </a:pPr>
            <a:r>
              <a:t>Passo 1: Criar o elemento na memória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  <a:latin typeface="Consolas"/>
              </a:defRPr>
            </a:pPr>
            <a:r>
              <a:t>const novoCard = document.createElement('div');</a:t>
            </a:r>
          </a:p>
          <a:p>
            <a:pPr>
              <a:spcAft>
                <a:spcPts val="200"/>
              </a:spcAft>
              <a:defRPr sz="1500" b="1">
                <a:solidFill>
                  <a:srgbClr val="9CA3AF"/>
                </a:solidFill>
                <a:latin typeface="Arial"/>
              </a:defRPr>
            </a:pPr>
            <a:r>
              <a:t>Passo 2: Alimentar o elemento (Texto, classes, etc)</a:t>
            </a:r>
          </a:p>
          <a:p>
            <a:pPr>
              <a:spcAft>
                <a:spcPts val="1400"/>
              </a:spcAft>
              <a:defRPr sz="1300">
                <a:solidFill>
                  <a:srgbClr val="F9FAFB"/>
                </a:solidFill>
                <a:latin typeface="Consolas"/>
              </a:defRPr>
            </a:pPr>
            <a:r>
              <a:t>novoCard.textContent = 'Conteúdo do Card';</a:t>
            </a:r>
            <a:br/>
            <a:r>
              <a:t>novoCard.classList.add('card-estilizado');</a:t>
            </a:r>
          </a:p>
          <a:p>
            <a:pPr>
              <a:spcAft>
                <a:spcPts val="200"/>
              </a:spcAft>
              <a:defRPr sz="1500" b="1">
                <a:solidFill>
                  <a:srgbClr val="9CA3AF"/>
                </a:solidFill>
                <a:latin typeface="Arial"/>
              </a:defRPr>
            </a:pPr>
            <a:r>
              <a:t>Passo 3: Inserir no HTML real (Anexar ao pai)</a:t>
            </a:r>
          </a:p>
          <a:p>
            <a:pPr>
              <a:spcAft>
                <a:spcPts val="1400"/>
              </a:spcAft>
              <a:defRPr sz="1300">
                <a:solidFill>
                  <a:srgbClr val="FBBF24"/>
                </a:solidFill>
                <a:latin typeface="Consolas"/>
              </a:defRPr>
            </a:pPr>
            <a:r>
              <a:t>const container = document.querySelector('#painel');</a:t>
            </a:r>
            <a:br/>
            <a:r>
              <a:t>container.appendChild(novoCard);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9FAFB"/>
                </a:solidFill>
                <a:latin typeface="Arial"/>
              </a:defRPr>
            </a:pPr>
            <a:r>
              <a:t>Resumo Didático: Qual Escolher?</a:t>
            </a:r>
          </a:p>
          <a:p>
            <a:pPr>
              <a:defRPr sz="1400">
                <a:solidFill>
                  <a:srgbClr val="9CA3AF"/>
                </a:solidFill>
                <a:latin typeface="Arial"/>
              </a:defRPr>
            </a:pPr>
            <a:r>
              <a:t>Guia rápido para tomada de decisão no dia a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❓ Alterar apenas texto simples?</a:t>
            </a:r>
          </a:p>
          <a:p>
            <a:pPr>
              <a:spcAft>
                <a:spcPts val="12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👉 Use .textContent (Rápido e 100% seguro)</a:t>
            </a:r>
          </a:p>
          <a:p>
            <a:pPr>
              <a:spcAft>
                <a:spcPts val="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❓ Inserir formatação ou tags HTML vindas do seu próprio código?</a:t>
            </a:r>
          </a:p>
          <a:p>
            <a:pPr>
              <a:spcAft>
                <a:spcPts val="12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👉 Use .innerHTML (Cuidado com dados de terceiros)</a:t>
            </a:r>
          </a:p>
          <a:p>
            <a:pPr>
              <a:spcAft>
                <a:spcPts val="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❓ Alterar o visual com base em estados (ex: Ativo/Inativo, Dia/Noite)?</a:t>
            </a:r>
          </a:p>
          <a:p>
            <a:pPr>
              <a:spcAft>
                <a:spcPts val="12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👉 Use .classList.toggle() (A melhor prática de arquitetura)</a:t>
            </a:r>
          </a:p>
          <a:p>
            <a:pPr>
              <a:spcAft>
                <a:spcPts val="200"/>
              </a:spcAft>
              <a:defRPr sz="1600" b="1">
                <a:solidFill>
                  <a:srgbClr val="FBBF24"/>
                </a:solidFill>
                <a:latin typeface="Arial"/>
              </a:defRPr>
            </a:pPr>
            <a:r>
              <a:t>❓ Criar novos blocos, comentários ou itens de lista dinamicamente?</a:t>
            </a:r>
          </a:p>
          <a:p>
            <a:pPr>
              <a:spcAft>
                <a:spcPts val="1200"/>
              </a:spcAft>
              <a:defRPr sz="1500">
                <a:solidFill>
                  <a:srgbClr val="F9FAFB"/>
                </a:solidFill>
                <a:latin typeface="Arial"/>
              </a:defRPr>
            </a:pPr>
            <a:r>
              <a:t>👉 Use .createElement() + .appendChild()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</TotalTime>
  <Words>1179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instrutor senac</cp:lastModifiedBy>
  <cp:revision>11</cp:revision>
  <dcterms:created xsi:type="dcterms:W3CDTF">2013-01-27T09:14:16Z</dcterms:created>
  <dcterms:modified xsi:type="dcterms:W3CDTF">2026-09-18T15:54:11Z</dcterms:modified>
  <cp:category/>
</cp:coreProperties>
</file>