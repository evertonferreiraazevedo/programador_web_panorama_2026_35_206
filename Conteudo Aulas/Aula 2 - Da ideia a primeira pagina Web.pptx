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4 HORAS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ideia à primeira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Web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Criatividade + HTML, CSS e JavaScript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4206240" cy="502920"/>
          </a:xfrm>
          <a:prstGeom prst="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43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Projetos de Aplicações para Web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Relembrando a aula anterior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última aula aprendemos: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45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projeto Web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83280" y="171907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3703320" y="1645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148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0" y="222199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148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72491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83280" y="272491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2783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83280" y="322783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Necessidades do projeto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2976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"Depois de entender o problema, o que fazemos?"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" y="5440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vamos começar a transformar uma ideia em uma solução Web.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planejamento para o desenvolvimento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2E3A6E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377440"/>
            <a:ext cx="1115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01952" y="2377440"/>
            <a:ext cx="1097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2E3A6E"/>
          </a:solidFill>
          <a:ln/>
        </p:spPr>
      </p:sp>
      <p:sp>
        <p:nvSpPr>
          <p:cNvPr id="7" name="Text 5"/>
          <p:cNvSpPr/>
          <p:nvPr/>
        </p:nvSpPr>
        <p:spPr>
          <a:xfrm>
            <a:off x="2084832" y="2377440"/>
            <a:ext cx="1115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73552" y="2377440"/>
            <a:ext cx="1097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2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2377440"/>
            <a:ext cx="1115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45152" y="2377440"/>
            <a:ext cx="1097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2377440"/>
            <a:ext cx="1115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16752" y="2377440"/>
            <a:ext cx="1097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2E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2377440"/>
            <a:ext cx="1115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88352" y="2377440"/>
            <a:ext cx="1097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0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571232" y="2377440"/>
            <a:ext cx="1115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59952" y="2377440"/>
            <a:ext cx="1097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69680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2E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8942832" y="2377440"/>
            <a:ext cx="1115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131552" y="2377440"/>
            <a:ext cx="1097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241280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2E3A6E"/>
          </a:solidFill>
          <a:ln/>
        </p:spPr>
      </p:sp>
      <p:sp>
        <p:nvSpPr>
          <p:cNvPr id="25" name="Text 23"/>
          <p:cNvSpPr/>
          <p:nvPr/>
        </p:nvSpPr>
        <p:spPr>
          <a:xfrm>
            <a:off x="10314432" y="2377440"/>
            <a:ext cx="1115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20624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 vamos começar a conhecer a etapa de desenvolvimento.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existe por trás de um site?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você abre um site no navegador, existe uma combinação de tecnologias trabalhando.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97380" y="2560320"/>
            <a:ext cx="1005840" cy="1005840"/>
          </a:xfrm>
          <a:prstGeom prst="ellipse">
            <a:avLst/>
          </a:prstGeom>
          <a:solidFill>
            <a:srgbClr val="E44D26"/>
          </a:solidFill>
          <a:ln/>
        </p:spPr>
      </p:sp>
      <p:sp>
        <p:nvSpPr>
          <p:cNvPr id="6" name="Text 4"/>
          <p:cNvSpPr/>
          <p:nvPr/>
        </p:nvSpPr>
        <p:spPr>
          <a:xfrm>
            <a:off x="1897380" y="2560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00700" y="2560320"/>
            <a:ext cx="1005840" cy="1005840"/>
          </a:xfrm>
          <a:prstGeom prst="ellipse">
            <a:avLst/>
          </a:prstGeom>
          <a:solidFill>
            <a:srgbClr val="264DE4"/>
          </a:solidFill>
          <a:ln/>
        </p:spPr>
      </p:sp>
      <p:sp>
        <p:nvSpPr>
          <p:cNvPr id="11" name="Text 9"/>
          <p:cNvSpPr/>
          <p:nvPr/>
        </p:nvSpPr>
        <p:spPr>
          <a:xfrm>
            <a:off x="5600700" y="2560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43400" y="3840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4343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04020" y="2560320"/>
            <a:ext cx="1005840" cy="1005840"/>
          </a:xfrm>
          <a:prstGeom prst="ellipse">
            <a:avLst/>
          </a:prstGeom>
          <a:solidFill>
            <a:srgbClr val="D6A600"/>
          </a:solidFill>
          <a:ln/>
        </p:spPr>
      </p:sp>
      <p:sp>
        <p:nvSpPr>
          <p:cNvPr id="16" name="Text 14"/>
          <p:cNvSpPr/>
          <p:nvPr/>
        </p:nvSpPr>
        <p:spPr>
          <a:xfrm>
            <a:off x="9304020" y="2560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3840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0" y="4343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44D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84632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46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44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 que existe na página?"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63440" y="8229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 para estruturar o conteúdo de uma página Web.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HTML podemos definir: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205740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57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49440" y="205740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2057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Parágrafos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35440" y="205740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057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651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265176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651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35440" y="265176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2651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63440" y="324612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0" y="324612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235440" y="324612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Seções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84632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46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64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"Como a página será apresentada?"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8229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 para definir a aparência e apresentação dos elementos HTML.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controlar: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205740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57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49440" y="205740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2057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35440" y="205740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057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651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Espaçamentos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265176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651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35440" y="265176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2651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63440" y="324612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0" y="324612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Responsividade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235440" y="324612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Animações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D6A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programação da Web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84632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46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 que a página pode fazer?"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63440" y="8229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adicionar comportamento e interatividade às páginas Web.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utilizado para: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205740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a cliques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2440" y="205740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formulários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conteúdos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2440" y="260604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menus interativos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63440" y="315468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cálculos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315468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Manipular elementos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63440" y="370332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Consumir APIs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92440" y="370332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funcionalidades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comparação simples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uma casa: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520440" cy="685800"/>
          </a:xfrm>
          <a:prstGeom prst="rect">
            <a:avLst/>
          </a:prstGeom>
          <a:solidFill>
            <a:srgbClr val="E44D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a estrutura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Paredes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Janelas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251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Cômodos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691640"/>
            <a:ext cx="3520440" cy="685800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6916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a aparência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3154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Móveis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3703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Decoração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4251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Organização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16916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691640"/>
            <a:ext cx="3520440" cy="685800"/>
          </a:xfrm>
          <a:prstGeom prst="rect">
            <a:avLst/>
          </a:prstGeom>
          <a:solidFill>
            <a:srgbClr val="D6A600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0" y="16916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o comportamento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2104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Porta abre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3154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Luz acende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3703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Alarme funciona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4251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Automação acontece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1663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1663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Web: HTML + CSS + JavaScript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tecnologias trabalhando juntas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um botão: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Comprar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880360"/>
            <a:ext cx="91440" cy="640080"/>
          </a:xfrm>
          <a:prstGeom prst="rect">
            <a:avLst/>
          </a:prstGeom>
          <a:solidFill>
            <a:srgbClr val="E44D2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352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19125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o botão.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657600"/>
            <a:ext cx="91440" cy="640080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124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96849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sua aparência.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434840"/>
            <a:ext cx="91440" cy="640080"/>
          </a:xfrm>
          <a:prstGeom prst="rect">
            <a:avLst/>
          </a:prstGeom>
          <a:solidFill>
            <a:srgbClr val="D6A60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4897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7457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que acontece ao clicar.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160020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exemplo: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22860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"Ao clicar em Comprar, adicionar o produto ao carrinho."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42062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tecnologia cuida de uma parte do problema — juntas, formam a experiência completa do usuário.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onde entra o planejamento?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está a ligação com a UC. Antes de programar: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 que esse botão deve fazer?"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resposta vem do: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2587752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2587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4992" y="3017520"/>
            <a:ext cx="2587752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364992" y="3017520"/>
            <a:ext cx="2587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9904" y="3017520"/>
            <a:ext cx="2587752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089904" y="3017520"/>
            <a:ext cx="2587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14816" y="3017520"/>
            <a:ext cx="2587752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814816" y="3017520"/>
            <a:ext cx="2587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89204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deverá conseguir adicionar produtos ao carrinho.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60520" y="4297680"/>
            <a:ext cx="1828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343400" y="42976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89204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"Adicionar ao carrinho"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0" y="4297680"/>
            <a:ext cx="1828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046720" y="42976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5320" y="489204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+ outras tecnologias.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precisamos para começar?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Chrome, Microsoft Edge, Firefox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código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920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do projeto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12172E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5478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35478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25296" y="35478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40480"/>
            <a:ext cx="48006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meu-projeto/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Estrutura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style.css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Estilo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script.js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Comportamento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971800"/>
            <a:ext cx="5257800" cy="3063240"/>
          </a:xfrm>
          <a:prstGeom prst="roundRect">
            <a:avLst>
              <a:gd name="adj" fmla="val 298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arquivo tem uma responsabilidade: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3657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3977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página.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4434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4754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 e estilo.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5212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5532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e interação.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Primeira página HTML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400800" cy="4663440"/>
          </a:xfrm>
          <a:prstGeom prst="roundRect">
            <a:avLst>
              <a:gd name="adj" fmla="val 1569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361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5361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5361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58521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 primeira página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Olá, mundo!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 primeira página Web.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1371600"/>
            <a:ext cx="4251960" cy="201168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 como: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4380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4380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4380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arquivo no navegador.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269480" y="3611880"/>
            <a:ext cx="425196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3749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no navegador: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0" y="4114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Olá, mundo!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98080" y="4663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 primeira página Web.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acabamos de fazer?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Criamos uma página Web utilizando HTML. O navegador interpreta o código e apresenta o conteúdo.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63040" y="237744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2377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237744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303520" y="237744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2377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Navegador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0" y="237744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9144000" y="237744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2377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Web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68880" y="4389120"/>
            <a:ext cx="7223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461772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Olá, mundo!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834640" y="516636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 primeira página Web.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4640" y="57150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 que o usuário vê no navegador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não é linguagem de programação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dúvida importante: "HTML é uma linguagem de programação?"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E44D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é uma linguagem de marcação.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descreve a estrutura e o significado do conteúdo — não executa lógica nem tomada de decisões.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60604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834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 que trabalham com comportamento/lógica: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37960" y="3566160"/>
            <a:ext cx="4754880" cy="384048"/>
          </a:xfrm>
          <a:prstGeom prst="roundRect">
            <a:avLst>
              <a:gd name="adj" fmla="val 11905"/>
            </a:avLst>
          </a:prstGeom>
          <a:solidFill>
            <a:srgbClr val="2E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356616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4069080"/>
            <a:ext cx="4754880" cy="384048"/>
          </a:xfrm>
          <a:prstGeom prst="roundRect">
            <a:avLst>
              <a:gd name="adj" fmla="val 11905"/>
            </a:avLst>
          </a:prstGeom>
          <a:solidFill>
            <a:srgbClr val="2E3A6E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406908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37960" y="4572000"/>
            <a:ext cx="4754880" cy="384048"/>
          </a:xfrm>
          <a:prstGeom prst="roundRect">
            <a:avLst>
              <a:gd name="adj" fmla="val 11905"/>
            </a:avLst>
          </a:prstGeom>
          <a:solidFill>
            <a:srgbClr val="2E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5720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5074920"/>
            <a:ext cx="4754880" cy="384048"/>
          </a:xfrm>
          <a:prstGeom prst="roundRect">
            <a:avLst>
              <a:gd name="adj" fmla="val 11905"/>
            </a:avLst>
          </a:prstGeom>
          <a:solidFill>
            <a:srgbClr val="2E3A6E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507492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5577840"/>
            <a:ext cx="4754880" cy="384048"/>
          </a:xfrm>
          <a:prstGeom prst="roundRect">
            <a:avLst>
              <a:gd name="adj" fmla="val 11905"/>
            </a:avLst>
          </a:prstGeom>
          <a:solidFill>
            <a:srgbClr val="2E3A6E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55778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C#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Elementos HTML principais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utiliza elementos (tags) para estruturar o conteúdo. Cada um tem uma função.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0136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3154680" cy="822960"/>
          </a:xfrm>
          <a:prstGeom prst="roundRect">
            <a:avLst>
              <a:gd name="adj" fmla="val 5556"/>
            </a:avLst>
          </a:prstGeom>
          <a:solidFill>
            <a:srgbClr val="12172E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2585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&lt;h1&gt;Título&lt;/h1&gt;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&lt;h2&gt;Subtítulo&lt;/h2&gt;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180136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194560"/>
            <a:ext cx="3154680" cy="822960"/>
          </a:xfrm>
          <a:prstGeom prst="roundRect">
            <a:avLst>
              <a:gd name="adj" fmla="val 5556"/>
            </a:avLst>
          </a:prstGeom>
          <a:solidFill>
            <a:srgbClr val="12172E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22585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&lt;p&gt;Um parágrafo.&lt;/p&gt;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180136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194560"/>
            <a:ext cx="3154680" cy="822960"/>
          </a:xfrm>
          <a:prstGeom prst="roundRect">
            <a:avLst>
              <a:gd name="adj" fmla="val 5556"/>
            </a:avLst>
          </a:prstGeom>
          <a:solidFill>
            <a:srgbClr val="1217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22585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href="#"&gt;Google&lt;/a&gt;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4930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3886200"/>
            <a:ext cx="3154680" cy="822960"/>
          </a:xfrm>
          <a:prstGeom prst="roundRect">
            <a:avLst>
              <a:gd name="adj" fmla="val 5556"/>
            </a:avLst>
          </a:prstGeom>
          <a:solidFill>
            <a:srgbClr val="12172E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395020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&lt;button&gt;Clique&lt;/button&gt;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33832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8848" y="34930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80560" y="3886200"/>
            <a:ext cx="3154680" cy="822960"/>
          </a:xfrm>
          <a:prstGeom prst="roundRect">
            <a:avLst>
              <a:gd name="adj" fmla="val 5556"/>
            </a:avLst>
          </a:prstGeom>
          <a:solidFill>
            <a:srgbClr val="12172E"/>
          </a:solidFill>
          <a:ln/>
        </p:spPr>
      </p:sp>
      <p:sp>
        <p:nvSpPr>
          <p:cNvPr id="23" name="Text 21"/>
          <p:cNvSpPr/>
          <p:nvPr/>
        </p:nvSpPr>
        <p:spPr>
          <a:xfrm>
            <a:off x="4590288" y="395020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&lt;ul&gt;&lt;li&gt;HTML&lt;/li&gt;&lt;/ul&gt;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55280" y="33832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34930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38160" y="3886200"/>
            <a:ext cx="3154680" cy="822960"/>
          </a:xfrm>
          <a:prstGeom prst="roundRect">
            <a:avLst>
              <a:gd name="adj" fmla="val 5556"/>
            </a:avLst>
          </a:prstGeom>
          <a:solidFill>
            <a:srgbClr val="12172E"/>
          </a:solidFill>
          <a:ln/>
        </p:spPr>
      </p:sp>
      <p:sp>
        <p:nvSpPr>
          <p:cNvPr id="27" name="Text 25"/>
          <p:cNvSpPr/>
          <p:nvPr/>
        </p:nvSpPr>
        <p:spPr>
          <a:xfrm>
            <a:off x="8247888" y="395020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src="foto.jpg"&gt;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adicionar CSS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temos estrutura, mas nossa página ainda está simples. Vamos criar o arquivo de estilo: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476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476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476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40280"/>
            <a:ext cx="466344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5212080" cy="2788920"/>
          </a:xfrm>
          <a:prstGeom prst="roundRect">
            <a:avLst>
              <a:gd name="adj" fmla="val 2623"/>
            </a:avLst>
          </a:prstGeom>
          <a:solidFill>
            <a:srgbClr val="12172E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7249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" y="27249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25296" y="27249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1752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font-family: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Arial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Depois, conectamos o CSS ao HTML: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0" y="242316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1217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2587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84848" y="2587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986016" y="2587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8803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rel=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href=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"style.css"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42519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4805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tag fica dentro do &lt;head&gt; do HTML e diz ao navegador: "use este arquivo de estilo nesta página".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+ CSS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44D2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 que existe?"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2801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264DE4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"Como aparece?"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12172E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1821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31821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25296" y="31821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7472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 empresa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30175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217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31821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6647688" y="31821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848856" y="31821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474720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font-size: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40px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84632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HTML cria o elemento. O CSS define sua apresentação.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JavaScript?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temos estrutura e aparência. Vamos adicionar comportamento com um botão interativo.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12172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762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21762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25296" y="21762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onclick=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"mostrarMensagem()"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Clique aqui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12172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4187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" y="4187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5296" y="4187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8056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mostrarMensagem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"Você clicou no botão!"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5394960" cy="4069080"/>
          </a:xfrm>
          <a:prstGeom prst="roundRect">
            <a:avLst>
              <a:gd name="adj" fmla="val 2247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clicar no botão: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0" y="2377440"/>
            <a:ext cx="4846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2377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Você clicou no botão!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703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temos: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0" y="4114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→ cria o botão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→ define o comportamento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5074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a base de toda interatividade na Web.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Web em três perguntas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estiver desenvolvendo uma página, pense sempre nestas três perguntas: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E44D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943100" y="3200400"/>
            <a:ext cx="914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74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existe?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264DE4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22860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646420" y="3200400"/>
            <a:ext cx="914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3474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aparece?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D6A600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2860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349740" y="3200400"/>
            <a:ext cx="914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474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lógica será muito importante durante todo o curso.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Desafios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Utilizando o negócio escolhido na Aula 1, complete os quatro desafios abaixo.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1109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página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dois parágrafos, imagem, link, lista e botão.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91109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Estilize com CSS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de fundo, cor do texto, fonte, espaçamento, borda e estilo do botão.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2E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28853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comportamento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498348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"Conheça nosso negócio" que exibe uma mensagem com JavaScript.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06908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428853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briefing ao código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2240" y="498348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uma informação do briefing e transforme em uma página real.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final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terminar a atividade, verifique: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65376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470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69164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index.html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62272" y="1865376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8470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style.css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1865376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8470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58200" y="169164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script.js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2551176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5328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237744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está funcionando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23774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62272" y="2551176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5328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237744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está conectado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23774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2551176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25328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58200" y="237744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está conectado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0632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3236976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2186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306324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Tenho título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97680" y="30632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62272" y="3236976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32186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306324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Tenho texto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55280" y="30632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19872" y="3236976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32186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58200" y="306324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Tenho imagem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37490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" y="3922776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39044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43000" y="374904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Tenho link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297680" y="37490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62272" y="3922776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34840" y="39044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00600" y="374904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Tenho botão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955280" y="374904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19872" y="3922776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92440" y="39044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458200" y="374904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Tenho alguma interação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 hoje?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E44D26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página.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43400" y="12801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264DE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463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920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 da página.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2801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D6A600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1463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75320" y="1920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e interação.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vimos: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575304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753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" y="3520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HTML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575304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5753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19672" y="3520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básica de um documento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42232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422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40873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de um projeto Web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4142232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41422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19672" y="40873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externo (link)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70916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709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7552" y="46542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externo (script)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470916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4709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19672" y="46542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relação entre planejamento e desenvolvimento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Conectando com a UC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fizemos hoje não está separado da UC — é a continuação natural do planejamento.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4688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necessidades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2194560"/>
            <a:ext cx="1097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15768" y="2194560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2E3A6E"/>
          </a:solidFill>
          <a:ln/>
        </p:spPr>
      </p:sp>
      <p:sp>
        <p:nvSpPr>
          <p:cNvPr id="9" name="Text 7"/>
          <p:cNvSpPr/>
          <p:nvPr/>
        </p:nvSpPr>
        <p:spPr>
          <a:xfrm>
            <a:off x="2852928" y="24688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52928" y="30632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definem funcionalidades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81728" y="2194560"/>
            <a:ext cx="1097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91456" y="2194560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4928616" y="24688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28616" y="30632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informações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57416" y="2194560"/>
            <a:ext cx="1097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67144" y="2194560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2E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7004304" y="24688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04304" y="30632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a interface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33104" y="2194560"/>
            <a:ext cx="1097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942832" y="2194560"/>
            <a:ext cx="1965960" cy="2011680"/>
          </a:xfrm>
          <a:prstGeom prst="roundRect">
            <a:avLst>
              <a:gd name="adj" fmla="val 4651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079992" y="24688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79992" y="30632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implementam a solução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7548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Ideia → Planejamento → Interface → Código → Aplicação. Essa é a lógica que vamos desenvolver ao longo de toda a formação.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mercado e público-alvo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descobrir quem são os concorrentes, o que eles oferecem, como seus sites funcionam, quem é o público e o que podemos aprender com outras soluções.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896112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292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"Como podemos criar uma solução melhor para o nosso cliente?"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2026-08-20T11:06:27Z</dcterms:created>
  <dcterms:modified xsi:type="dcterms:W3CDTF">2026-08-20T11:06:27Z</dcterms:modified>
</cp:coreProperties>
</file>